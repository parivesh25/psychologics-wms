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0" y="256032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INDIA HACKATHON 2026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0" y="8229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 — TITLE PAGE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881360" y="228600"/>
            <a:ext cx="105156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881360" y="33832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881360" y="6126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6949440" cy="4023360"/>
          </a:xfrm>
          <a:prstGeom prst="roundRect">
            <a:avLst>
              <a:gd name="adj" fmla="val 1818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057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ID: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057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26186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62432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Title: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262432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Predictive Personnel Stress and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 Monitoring System for Uniformed Forces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4198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34198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MedTech / BioTech / HealthTech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9867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Category: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39867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5537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703320" y="45537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CSE-SIH-038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120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(Portal):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703320" y="5120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863840" y="1828800"/>
            <a:ext cx="3703320" cy="4023360"/>
          </a:xfrm>
          <a:prstGeom prst="roundRect">
            <a:avLst>
              <a:gd name="adj" fmla="val 1975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92440" y="20116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CORE IDEA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092440" y="2377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“is this person stressed today?”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28803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“is their welfare trajectory deteriorating — and when should a human step in?”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92440" y="3931920"/>
            <a:ext cx="713232" cy="54864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92440" y="3931920"/>
            <a:ext cx="713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019288" y="4526280"/>
            <a:ext cx="859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8805672" y="393192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006840" y="3931920"/>
            <a:ext cx="713232" cy="54864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006840" y="3931920"/>
            <a:ext cx="713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933688" y="4526280"/>
            <a:ext cx="859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9720072" y="393192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921240" y="3931920"/>
            <a:ext cx="713232" cy="54864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921240" y="3931920"/>
            <a:ext cx="713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9848088" y="4526280"/>
            <a:ext cx="859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Concerning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10634472" y="393192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835640" y="3931920"/>
            <a:ext cx="713232" cy="54864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835640" y="3931920"/>
            <a:ext cx="713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10762488" y="4526280"/>
            <a:ext cx="859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8092440" y="49834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trajectory over successive check-ins (illustrative)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320040" y="64739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Idea Submission  |  PS ID 26186  |  Team CSE-SIH-038 — PsychoLogics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1430000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37160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560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164592"/>
            <a:ext cx="105156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881360" y="2743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SIH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5486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01168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WMS — WELFARE MONITORING SYSTEM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20040" y="932688"/>
            <a:ext cx="115488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0040" y="64739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Idea Submission  |  PS ID 26186  |  Team CSE-SIH-038 — PsychoLogics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" y="107899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" y="1417320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privacy-first, welfare-support early-warning system for uniformed personnel that fuses HR, deployment, workload and voluntary wellness data into a longitudinal welfare-risk trajectory — flagging deteriorating trends to trained welfare officers for human review, not automated diagnosis or disciplinary action.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569464"/>
            <a:ext cx="82296" cy="82296"/>
          </a:xfrm>
          <a:prstGeom prst="ellipse">
            <a:avLst/>
          </a:prstGeom>
          <a:solidFill>
            <a:srgbClr val="1C4E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6928" y="2514600"/>
            <a:ext cx="5532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voluntary wellness check-ins with HR, deployment, leave and workload records — contextualized risk, not isolated indicators.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00984"/>
            <a:ext cx="82296" cy="82296"/>
          </a:xfrm>
          <a:prstGeom prst="ellipse">
            <a:avLst/>
          </a:prstGeom>
          <a:solidFill>
            <a:srgbClr val="1C4E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3246120"/>
            <a:ext cx="5532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Need-to-know RBAC: personnel see only their own data; welfare officers see assigned cases; commanders see aggregated unit-level trends only.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032504"/>
            <a:ext cx="82296" cy="82296"/>
          </a:xfrm>
          <a:prstGeom prst="ellipse">
            <a:avLst/>
          </a:prstGeom>
          <a:solidFill>
            <a:srgbClr val="1C4E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66928" y="3977640"/>
            <a:ext cx="5532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trajectory engine tracks how welfare risk changes over successive check-ins — not a single-point-in-time score.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764024"/>
            <a:ext cx="82296" cy="82296"/>
          </a:xfrm>
          <a:prstGeom prst="ellipse">
            <a:avLst/>
          </a:prstGeom>
          <a:solidFill>
            <a:srgbClr val="1C4E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4709160"/>
            <a:ext cx="5532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reason codes accompany every flag (e.g. ‘+18% risk from workload, +9% from deployment tempo’) so a human reviewer sees why, never a black-box number.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1417320"/>
            <a:ext cx="5029200" cy="4709160"/>
          </a:xfrm>
          <a:prstGeom prst="roundRect">
            <a:avLst>
              <a:gd name="adj" fmla="val 1553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903720" y="1572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VALUE PROPOSITION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Longitudinal, not one-time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230428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shape of a trend (32→41→57→73: Stable→Rising→Concerning→Critical), not a single questionnaire snapshot.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2999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Psychology-informed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32918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validated screening instruments (GAD-7, PHQ-9 style constructs) and DSM/ICD-informed logic — never an automated diagnosis.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39867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&amp; explainable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427939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 score ships with a confidence level and the top contributing factors, so reviewers can trust or challenge it.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49743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by design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903720" y="526694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recommends and prioritizes; only a trained welfare officer decides on intervention.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5623560"/>
            <a:ext cx="5806440" cy="685800"/>
          </a:xfrm>
          <a:prstGeom prst="roundRect">
            <a:avLst>
              <a:gd name="adj" fmla="val 8000"/>
            </a:avLst>
          </a:prstGeom>
          <a:solidFill>
            <a:srgbClr val="EAF0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" y="5669280"/>
            <a:ext cx="5532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addresses the problem:  Shifts welfare management from reactive, manual self-reporting to proactive, trend-based early intervention — while keeping a human decision-maker in every loop.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37160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560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164592"/>
            <a:ext cx="105156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881360" y="2743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SIH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5486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01168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20040" y="932688"/>
            <a:ext cx="115488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0040" y="64739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Idea Submission  |  PS ID 26186  |  Team CSE-SIH-038 — PsychoLogics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188720"/>
            <a:ext cx="1328166" cy="566928"/>
          </a:xfrm>
          <a:prstGeom prst="roundRect">
            <a:avLst>
              <a:gd name="adj" fmla="val 8065"/>
            </a:avLst>
          </a:prstGeom>
          <a:solidFill>
            <a:srgbClr val="EAF0FB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" y="1188720"/>
            <a:ext cx="12733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629918" y="118872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76222" y="1188720"/>
            <a:ext cx="1328166" cy="566928"/>
          </a:xfrm>
          <a:prstGeom prst="roundRect">
            <a:avLst>
              <a:gd name="adj" fmla="val 8065"/>
            </a:avLst>
          </a:prstGeom>
          <a:solidFill>
            <a:srgbClr val="EAF0FB"/>
          </a:solidFill>
          <a:ln w="19050">
            <a:solidFill>
              <a:srgbClr val="8892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803654" y="1188720"/>
            <a:ext cx="12733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Clean,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Pseudonymize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3086100" y="118872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32404" y="1188720"/>
            <a:ext cx="1328166" cy="566928"/>
          </a:xfrm>
          <a:prstGeom prst="roundRect">
            <a:avLst>
              <a:gd name="adj" fmla="val 8065"/>
            </a:avLst>
          </a:prstGeom>
          <a:solidFill>
            <a:srgbClr val="EAF0FB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59836" y="1188720"/>
            <a:ext cx="12733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4542282" y="118872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88586" y="1188720"/>
            <a:ext cx="1328166" cy="566928"/>
          </a:xfrm>
          <a:prstGeom prst="roundRect">
            <a:avLst>
              <a:gd name="adj" fmla="val 8065"/>
            </a:avLst>
          </a:prstGeom>
          <a:solidFill>
            <a:srgbClr val="EAF0FB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16018" y="1188720"/>
            <a:ext cx="12733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Risk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5998464" y="118872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44768" y="1188720"/>
            <a:ext cx="1328166" cy="566928"/>
          </a:xfrm>
          <a:prstGeom prst="roundRect">
            <a:avLst>
              <a:gd name="adj" fmla="val 8065"/>
            </a:avLst>
          </a:prstGeom>
          <a:solidFill>
            <a:srgbClr val="EAF0FB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72200" y="1188720"/>
            <a:ext cx="12733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Calib. &amp;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 Score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7454646" y="118872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600950" y="1188720"/>
            <a:ext cx="1328166" cy="566928"/>
          </a:xfrm>
          <a:prstGeom prst="roundRect">
            <a:avLst>
              <a:gd name="adj" fmla="val 8065"/>
            </a:avLst>
          </a:prstGeom>
          <a:solidFill>
            <a:srgbClr val="EAF0FB"/>
          </a:solidFill>
          <a:ln w="19050">
            <a:solidFill>
              <a:srgbClr val="8892A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28382" y="1188720"/>
            <a:ext cx="12733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8910828" y="118872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057132" y="1188720"/>
            <a:ext cx="1328166" cy="566928"/>
          </a:xfrm>
          <a:prstGeom prst="roundRect">
            <a:avLst>
              <a:gd name="adj" fmla="val 8065"/>
            </a:avLst>
          </a:prstGeom>
          <a:solidFill>
            <a:srgbClr val="EAF0FB"/>
          </a:solidFill>
          <a:ln w="19050">
            <a:solidFill>
              <a:srgbClr val="8892A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84564" y="1188720"/>
            <a:ext cx="12733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Codes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10367010" y="118872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513314" y="1188720"/>
            <a:ext cx="1328166" cy="566928"/>
          </a:xfrm>
          <a:prstGeom prst="roundRect">
            <a:avLst>
              <a:gd name="adj" fmla="val 8065"/>
            </a:avLst>
          </a:prstGeom>
          <a:solidFill>
            <a:srgbClr val="EAF0FB"/>
          </a:solidFill>
          <a:ln w="19050">
            <a:solidFill>
              <a:srgbClr val="8892A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540746" y="1188720"/>
            <a:ext cx="12733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Human Review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" y="1883664"/>
            <a:ext cx="100584" cy="10058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48056" y="18196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874520" y="1883664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002536" y="18196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built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337560" y="1883664"/>
            <a:ext cx="100584" cy="100584"/>
          </a:xfrm>
          <a:prstGeom prst="ellipse">
            <a:avLst/>
          </a:prstGeom>
          <a:solidFill>
            <a:srgbClr val="8892A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465576" y="18196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/ planned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0" y="1819656"/>
            <a:ext cx="6355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accuracy shown is inflated by label leakage (label derived from features) — flagged honestly, not a real-world result.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320040" y="21579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— CODE EVIDENCE (actual run of 1.py)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20040" y="2432304"/>
            <a:ext cx="3755136" cy="2331720"/>
          </a:xfrm>
          <a:prstGeom prst="roundRect">
            <a:avLst>
              <a:gd name="adj" fmla="val 1961"/>
            </a:avLst>
          </a:prstGeom>
          <a:solidFill>
            <a:srgbClr val="1E1E2E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4" name="Image 0" descr="/home/claude/deck/feature_enginee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930" y="2542032"/>
            <a:ext cx="2517356" cy="2112264"/>
          </a:xfrm>
          <a:prstGeom prst="rect">
            <a:avLst/>
          </a:prstGeom>
        </p:spPr>
      </p:pic>
      <p:sp>
        <p:nvSpPr>
          <p:cNvPr id="45" name="Text 42"/>
          <p:cNvSpPr txBox="1"/>
          <p:nvPr/>
        </p:nvSpPr>
        <p:spPr>
          <a:xfrm>
            <a:off x="365760" y="4800600"/>
            <a:ext cx="366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lines 25–51 (synthetic wellness signals)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4203192" y="2432304"/>
            <a:ext cx="3755136" cy="2331720"/>
          </a:xfrm>
          <a:prstGeom prst="roundRect">
            <a:avLst>
              <a:gd name="adj" fmla="val 1961"/>
            </a:avLst>
          </a:prstGeom>
          <a:solidFill>
            <a:srgbClr val="1E1E2E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7" name="Image 1" descr="/home/claude/deck/model_trai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642" y="2542032"/>
            <a:ext cx="2094236" cy="2112264"/>
          </a:xfrm>
          <a:prstGeom prst="rect">
            <a:avLst/>
          </a:prstGeom>
        </p:spPr>
      </p:pic>
      <p:sp>
        <p:nvSpPr>
          <p:cNvPr id="48" name="Text 44"/>
          <p:cNvSpPr txBox="1"/>
          <p:nvPr/>
        </p:nvSpPr>
        <p:spPr>
          <a:xfrm>
            <a:off x="4248912" y="4800600"/>
            <a:ext cx="366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training — lines 86–114 (200 trees, class-balanced)</a:t>
            </a:r>
            <a:endParaRPr lang="en-US" sz="850" dirty="0"/>
          </a:p>
        </p:txBody>
      </p:sp>
      <p:sp>
        <p:nvSpPr>
          <p:cNvPr id="49" name="Shape 45"/>
          <p:cNvSpPr/>
          <p:nvPr/>
        </p:nvSpPr>
        <p:spPr>
          <a:xfrm>
            <a:off x="8086344" y="2432304"/>
            <a:ext cx="3755136" cy="2331720"/>
          </a:xfrm>
          <a:prstGeom prst="roundRect">
            <a:avLst>
              <a:gd name="adj" fmla="val 1961"/>
            </a:avLst>
          </a:prstGeom>
          <a:solidFill>
            <a:srgbClr val="1E1E2E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0" name="Image 2" descr="/home/claude/deck/console_outp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636" y="2542032"/>
            <a:ext cx="3508553" cy="2112264"/>
          </a:xfrm>
          <a:prstGeom prst="rect">
            <a:avLst/>
          </a:prstGeom>
        </p:spPr>
      </p:pic>
      <p:sp>
        <p:nvSpPr>
          <p:cNvPr id="51" name="Text 46"/>
          <p:cNvSpPr txBox="1"/>
          <p:nvPr/>
        </p:nvSpPr>
        <p:spPr>
          <a:xfrm>
            <a:off x="8132064" y="4800600"/>
            <a:ext cx="366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console run — real output from the prototype</a:t>
            </a:r>
            <a:endParaRPr lang="en-US" sz="850" dirty="0"/>
          </a:p>
        </p:txBody>
      </p:sp>
      <p:sp>
        <p:nvSpPr>
          <p:cNvPr id="52" name="Shape 47"/>
          <p:cNvSpPr/>
          <p:nvPr/>
        </p:nvSpPr>
        <p:spPr>
          <a:xfrm>
            <a:off x="320040" y="5202936"/>
            <a:ext cx="5577840" cy="868680"/>
          </a:xfrm>
          <a:prstGeom prst="roundRect">
            <a:avLst>
              <a:gd name="adj" fmla="val 6316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457200" y="525780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50" dirty="0"/>
          </a:p>
        </p:txBody>
      </p:sp>
      <p:sp>
        <p:nvSpPr>
          <p:cNvPr id="54" name="Text 49"/>
          <p:cNvSpPr txBox="1"/>
          <p:nvPr/>
        </p:nvSpPr>
        <p:spPr>
          <a:xfrm>
            <a:off x="457200" y="547725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 (Web) · Flutter (Mobile)      Backend: FastAPI (Python)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AI/ML: Python · scikit-learn · Pandas/NumPy      DB: PostgreSQL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6035040" y="5202936"/>
            <a:ext cx="5806440" cy="868680"/>
          </a:xfrm>
          <a:prstGeom prst="roundRect">
            <a:avLst>
              <a:gd name="adj" fmla="val 6316"/>
            </a:avLst>
          </a:prstGeom>
          <a:solidFill>
            <a:srgbClr val="F2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6" name="Text 51"/>
          <p:cNvSpPr txBox="1"/>
          <p:nvPr/>
        </p:nvSpPr>
        <p:spPr>
          <a:xfrm>
            <a:off x="6172200" y="52578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SECURITY LAYER</a:t>
            </a:r>
            <a:endParaRPr lang="en-US" sz="950" dirty="0"/>
          </a:p>
        </p:txBody>
      </p:sp>
      <p:sp>
        <p:nvSpPr>
          <p:cNvPr id="57" name="Text 52"/>
          <p:cNvSpPr txBox="1"/>
          <p:nvPr/>
        </p:nvSpPr>
        <p:spPr>
          <a:xfrm>
            <a:off x="6172200" y="5477256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(need-to-know) · Pseudonymization · Encryption + 2FA · Consent management · Audit logging · Data minimization — commanders see aggregated trends only, never individual data.</a:t>
            </a:r>
            <a:endParaRPr lang="en-US" sz="8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37160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560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164592"/>
            <a:ext cx="105156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881360" y="2743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SIH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5486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01168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20040" y="932688"/>
            <a:ext cx="115488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0040" y="64739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Idea Submission  |  PS ID 26186  |  Team CSE-SIH-038 — PsychoLogics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097280"/>
            <a:ext cx="379476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20040" y="10972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51960" y="1097280"/>
            <a:ext cx="379476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251960" y="10972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Risks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83880" y="1097280"/>
            <a:ext cx="370332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83880" y="10972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Strategy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1600200"/>
            <a:ext cx="3794760" cy="658368"/>
          </a:xfrm>
          <a:prstGeom prst="roundRect">
            <a:avLst>
              <a:gd name="adj" fmla="val 6944"/>
            </a:avLst>
          </a:prstGeom>
          <a:solidFill>
            <a:srgbClr val="F2F6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9768" y="1636776"/>
            <a:ext cx="35753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cloud-native, built on widely available OSS (FastAPI, scikit-learn, PostgreSQL, React/Flutter)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350008"/>
            <a:ext cx="3794760" cy="658368"/>
          </a:xfrm>
          <a:prstGeom prst="roundRect">
            <a:avLst>
              <a:gd name="adj" fmla="val 6944"/>
            </a:avLst>
          </a:prstGeom>
          <a:solidFill>
            <a:srgbClr val="F2F6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9768" y="2386584"/>
            <a:ext cx="35753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 designed as welfare-support/early-warning — explicitly not a disciplinary tool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099816"/>
            <a:ext cx="3794760" cy="658368"/>
          </a:xfrm>
          <a:prstGeom prst="roundRect">
            <a:avLst>
              <a:gd name="adj" fmla="val 6944"/>
            </a:avLst>
          </a:prstGeom>
          <a:solidFill>
            <a:srgbClr val="F2F6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9768" y="3136392"/>
            <a:ext cx="35753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Psychological: GAD-7/PHQ-9-style validated screening constructs, DSM/ICD-informed logic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849624"/>
            <a:ext cx="3794760" cy="658368"/>
          </a:xfrm>
          <a:prstGeom prst="roundRect">
            <a:avLst>
              <a:gd name="adj" fmla="val 6944"/>
            </a:avLst>
          </a:prstGeom>
          <a:solidFill>
            <a:srgbClr val="F2F6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9768" y="3886200"/>
            <a:ext cx="35753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RBAC model already separates individual, officer and command-level views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51960" y="1600200"/>
            <a:ext cx="3794760" cy="658368"/>
          </a:xfrm>
          <a:prstGeom prst="roundRect">
            <a:avLst>
              <a:gd name="adj" fmla="val 6944"/>
            </a:avLst>
          </a:prstGeom>
          <a:solidFill>
            <a:srgbClr val="FDF3E8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61688" y="1636776"/>
            <a:ext cx="35753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uniformed-forces longitudinal dataset available for training/validation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251960" y="2350008"/>
            <a:ext cx="3794760" cy="658368"/>
          </a:xfrm>
          <a:prstGeom prst="roundRect">
            <a:avLst>
              <a:gd name="adj" fmla="val 6944"/>
            </a:avLst>
          </a:prstGeom>
          <a:solidFill>
            <a:srgbClr val="FDF3E8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361688" y="2386584"/>
            <a:ext cx="35753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label is derived from the same formula used as model input — risk of inflated/circular accuracy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51960" y="3099816"/>
            <a:ext cx="3794760" cy="658368"/>
          </a:xfrm>
          <a:prstGeom prst="roundRect">
            <a:avLst>
              <a:gd name="adj" fmla="val 6944"/>
            </a:avLst>
          </a:prstGeom>
          <a:solidFill>
            <a:srgbClr val="FDF3E8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361688" y="3136392"/>
            <a:ext cx="35753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could erode trust; false negatives could miss a genuine case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51960" y="3849624"/>
            <a:ext cx="3794760" cy="658368"/>
          </a:xfrm>
          <a:prstGeom prst="roundRect">
            <a:avLst>
              <a:gd name="adj" fmla="val 6944"/>
            </a:avLst>
          </a:prstGeom>
          <a:solidFill>
            <a:srgbClr val="FDF3E8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361688" y="3886200"/>
            <a:ext cx="35753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Cybersecurity: breach of sensitive personnel welfare data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51960" y="4599432"/>
            <a:ext cx="3794760" cy="658368"/>
          </a:xfrm>
          <a:prstGeom prst="roundRect">
            <a:avLst>
              <a:gd name="adj" fmla="val 6944"/>
            </a:avLst>
          </a:prstGeom>
          <a:solidFill>
            <a:srgbClr val="FDF3E8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361688" y="4636008"/>
            <a:ext cx="35753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Adoption: personnel may under-report if they don't trust confidentiality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183880" y="1600200"/>
            <a:ext cx="3703320" cy="658368"/>
          </a:xfrm>
          <a:prstGeom prst="roundRect">
            <a:avLst>
              <a:gd name="adj" fmla="val 6944"/>
            </a:avLst>
          </a:prstGeom>
          <a:solidFill>
            <a:srgbClr val="EFF7E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93608" y="1636776"/>
            <a:ext cx="3483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for the prototype only; phased validation with anonymized pilot-unit data + clinician-labeled outcomes before deployment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183880" y="2350008"/>
            <a:ext cx="3703320" cy="658368"/>
          </a:xfrm>
          <a:prstGeom prst="roundRect">
            <a:avLst>
              <a:gd name="adj" fmla="val 6944"/>
            </a:avLst>
          </a:prstGeom>
          <a:solidFill>
            <a:srgbClr val="EFF7E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93608" y="2386584"/>
            <a:ext cx="3483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formula-derived labels with independent, expert-adjudicated outcome labels in the validation phase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183880" y="3099816"/>
            <a:ext cx="3703320" cy="658368"/>
          </a:xfrm>
          <a:prstGeom prst="roundRect">
            <a:avLst>
              <a:gd name="adj" fmla="val 6944"/>
            </a:avLst>
          </a:prstGeom>
          <a:solidFill>
            <a:srgbClr val="EFF7E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93608" y="3136392"/>
            <a:ext cx="3483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probabilities + confidence bands; human welfare officer makes the final call, never the model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183880" y="3849624"/>
            <a:ext cx="3703320" cy="658368"/>
          </a:xfrm>
          <a:prstGeom prst="roundRect">
            <a:avLst>
              <a:gd name="adj" fmla="val 6944"/>
            </a:avLst>
          </a:prstGeom>
          <a:solidFill>
            <a:srgbClr val="EFF7E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293608" y="3886200"/>
            <a:ext cx="3483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RBAC, pseudonymization, audit logs, data minimization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183880" y="4599432"/>
            <a:ext cx="3703320" cy="658368"/>
          </a:xfrm>
          <a:prstGeom prst="roundRect">
            <a:avLst>
              <a:gd name="adj" fmla="val 6944"/>
            </a:avLst>
          </a:prstGeom>
          <a:solidFill>
            <a:srgbClr val="EFF7E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293608" y="4636008"/>
            <a:ext cx="3483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consent flow + visible ‘no automated disciplinary action’ policy to build trust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37160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560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164592"/>
            <a:ext cx="105156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881360" y="2743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SIH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5486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01168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20040" y="932688"/>
            <a:ext cx="115488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0040" y="64739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Idea Submission  |  PS ID 26186  |  Team CSE-SIH-038 — PsychoLogics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097280"/>
            <a:ext cx="5440680" cy="384048"/>
          </a:xfrm>
          <a:prstGeom prst="rect">
            <a:avLst/>
          </a:prstGeom>
          <a:solidFill>
            <a:srgbClr val="1C4E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20040" y="109728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Serving Personnel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580644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035040" y="1097280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the Solution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1691640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2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429768" y="189280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29768" y="1892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174650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recognition of deteriorating welfare trajectories, not just a bad day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423160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2F6FC"/>
          </a:solidFill>
          <a:ln/>
        </p:spPr>
      </p:sp>
      <p:sp>
        <p:nvSpPr>
          <p:cNvPr id="21" name="Shape 19"/>
          <p:cNvSpPr/>
          <p:nvPr/>
        </p:nvSpPr>
        <p:spPr>
          <a:xfrm>
            <a:off x="429768" y="262432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29768" y="2624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247802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contextualized to each individual's own history and workload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154680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2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29768" y="335584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29768" y="3355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320954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help-seeking by making welfare support proactive, not stigma-first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886200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2F6FC"/>
          </a:solidFill>
          <a:ln/>
        </p:spPr>
      </p:sp>
      <p:sp>
        <p:nvSpPr>
          <p:cNvPr id="29" name="Shape 27"/>
          <p:cNvSpPr/>
          <p:nvPr/>
        </p:nvSpPr>
        <p:spPr>
          <a:xfrm>
            <a:off x="429768" y="408736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29768" y="4087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394106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routing to trained welfare officers rather than generic self-reporting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617720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2F6FC"/>
          </a:solidFill>
          <a:ln/>
        </p:spPr>
      </p:sp>
      <p:sp>
        <p:nvSpPr>
          <p:cNvPr id="33" name="Shape 31"/>
          <p:cNvSpPr/>
          <p:nvPr/>
        </p:nvSpPr>
        <p:spPr>
          <a:xfrm>
            <a:off x="429768" y="481888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29768" y="4818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" y="467258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long-term psychological wellbeing across deployment cycles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5349240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2F6FC"/>
          </a:solidFill>
          <a:ln/>
        </p:spPr>
      </p:sp>
      <p:sp>
        <p:nvSpPr>
          <p:cNvPr id="37" name="Shape 35"/>
          <p:cNvSpPr/>
          <p:nvPr/>
        </p:nvSpPr>
        <p:spPr>
          <a:xfrm>
            <a:off x="429768" y="555040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29768" y="5550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77240" y="540410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posture: acts on rising risk before it becomes a crisis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35040" y="1691640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5F0E0"/>
          </a:solidFill>
          <a:ln/>
        </p:spPr>
      </p:sp>
      <p:sp>
        <p:nvSpPr>
          <p:cNvPr id="41" name="Shape 39"/>
          <p:cNvSpPr/>
          <p:nvPr/>
        </p:nvSpPr>
        <p:spPr>
          <a:xfrm>
            <a:off x="6144768" y="189280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144768" y="1892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6492240" y="174650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turns raw signals into actionable, reason-coded welfare insights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035040" y="2423160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5F0E0"/>
          </a:solidFill>
          <a:ln/>
        </p:spPr>
      </p:sp>
      <p:sp>
        <p:nvSpPr>
          <p:cNvPr id="45" name="Shape 43"/>
          <p:cNvSpPr/>
          <p:nvPr/>
        </p:nvSpPr>
        <p:spPr>
          <a:xfrm>
            <a:off x="6144768" y="262432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144768" y="2624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6492240" y="247802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Trajectory-based prioritization helps welfare officers focus on genuinely worsening cases first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035040" y="3154680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5F0E0"/>
          </a:solidFill>
          <a:ln/>
        </p:spPr>
      </p:sp>
      <p:sp>
        <p:nvSpPr>
          <p:cNvPr id="49" name="Shape 47"/>
          <p:cNvSpPr/>
          <p:nvPr/>
        </p:nvSpPr>
        <p:spPr>
          <a:xfrm>
            <a:off x="6144768" y="335584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144768" y="3355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6492240" y="320954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Commander dashboards show aggregated unit-level trends without exposing individual data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035040" y="3886200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5F0E0"/>
          </a:solidFill>
          <a:ln/>
        </p:spPr>
      </p:sp>
      <p:sp>
        <p:nvSpPr>
          <p:cNvPr id="53" name="Shape 51"/>
          <p:cNvSpPr/>
          <p:nvPr/>
        </p:nvSpPr>
        <p:spPr>
          <a:xfrm>
            <a:off x="6144768" y="408736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144768" y="4087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6492240" y="394106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pseudonymization protect sensitive personnel information by design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035040" y="4617720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5F0E0"/>
          </a:solidFill>
          <a:ln/>
        </p:spPr>
      </p:sp>
      <p:sp>
        <p:nvSpPr>
          <p:cNvPr id="57" name="Shape 55"/>
          <p:cNvSpPr/>
          <p:nvPr/>
        </p:nvSpPr>
        <p:spPr>
          <a:xfrm>
            <a:off x="6144768" y="481888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6144768" y="4818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6492240" y="467258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review avoids automated diagnosis or disciplinary misuse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035040" y="5349240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5F0E0"/>
          </a:solidFill>
          <a:ln/>
        </p:spPr>
      </p:sp>
      <p:sp>
        <p:nvSpPr>
          <p:cNvPr id="61" name="Shape 59"/>
          <p:cNvSpPr/>
          <p:nvPr/>
        </p:nvSpPr>
        <p:spPr>
          <a:xfrm>
            <a:off x="6144768" y="555040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144768" y="5550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6492240" y="540410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longitudinal follow-up enables measurable, auditable outcomes over time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37160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560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164592"/>
            <a:ext cx="105156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881360" y="2743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SIH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5486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01168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20040" y="932688"/>
            <a:ext cx="115488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0040" y="64739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Idea Submission  |  PS ID 26186  |  Team CSE-SIH-038 — PsychoLogics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097280"/>
            <a:ext cx="11521440" cy="365760"/>
          </a:xfrm>
          <a:prstGeom prst="roundRect">
            <a:avLst>
              <a:gd name="adj" fmla="val 12500"/>
            </a:avLst>
          </a:prstGeom>
          <a:solidFill>
            <a:srgbClr val="EAF0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referenced for method design only — not CRPF/uniformed-forces operational data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" y="1600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19202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WESAD (Wearable Stress and Affect Detection)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17627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Schmidt et al., ACM ICMI 2018 — physiological stress dataset, informs the future wearable/physiological signal module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27889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DAIC-WOZ (Distress Analysis Interview Corpus)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04495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USC Institute for Creative Technologies — behavioural distress-screening corpus, informs the planned NLP/sentiment module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320040" y="3794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Methods &amp; Precedent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" y="41148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SHAP (explainability)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37083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Lundberg &amp; Lee, “A Unified Approach to Interpreting Model Predictions,” NeurIPS 2017 — planned reason-code layer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65760" y="48920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GAD-7 / PHQ-9 style constructs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14807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validated screening instruments — inform (not replace) the psychological indicators used in prototype features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65760" y="56692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Comprehensive Soldier &amp; Family Fitness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92531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DoD resilience/wellness program — precedent for structured military welfare programs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0" y="160020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29400" y="173736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STATUS SNAPSHOT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(Pandas/NumPy)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921240" y="2185416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2C5F2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921240" y="218541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629400" y="26334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risk classifier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921240" y="2670048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2C5F2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921240" y="267004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— synthetic data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6629400" y="31181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Early-warning alert output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921240" y="3154680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2C5F2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921240" y="31546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6629400" y="36027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sentiment analysis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921240" y="3639312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5A6478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921240" y="363931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40873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engine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921240" y="4123944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5A6478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921240" y="412394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6629400" y="4572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921240" y="4608576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5A6478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921240" y="460857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6629400" y="5056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/ pseudonymization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921240" y="5093208"/>
            <a:ext cx="1783080" cy="292608"/>
          </a:xfrm>
          <a:prstGeom prst="roundRect">
            <a:avLst>
              <a:gd name="adj" fmla="val 15625"/>
            </a:avLst>
          </a:prstGeom>
          <a:solidFill>
            <a:srgbClr val="5A6478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921240" y="509320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(design complete)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6629400" y="5678424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evidence, judge Q&amp;A prep, and speaker scripts are provided alongside this deck.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2026-09-04T07:49:58Z</dcterms:created>
  <dcterms:modified xsi:type="dcterms:W3CDTF">2026-09-04T07:49:58Z</dcterms:modified>
</cp:coreProperties>
</file>