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92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6/2/2026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</a:t>
            </a:r>
            <a:r>
              <a:rPr lang="en-US" sz="4000" b="1" dirty="0" smtClean="0">
                <a:solidFill>
                  <a:schemeClr val="tx2"/>
                </a:solidFill>
                <a:latin typeface="Garamond" panose="02020404030301010803" pitchFamily="18" charset="0"/>
              </a:rPr>
              <a:t>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5924550" cy="47030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itchFamily="34" charset="0"/>
              <a:buChar char="•"/>
            </a:pPr>
            <a:r>
              <a:rPr lang="en-US" sz="2000" dirty="0">
                <a:latin typeface="Arial" pitchFamily="34" charset="0"/>
                <a:cs typeface="Arial" pitchFamily="34" charset="0"/>
              </a:rPr>
              <a:t/>
            </a:r>
          </a:p>
          <a:p>
            <a:pPr marL="342900" indent="-342900" algn="just">
              <a:buFont typeface="Arial" pitchFamily="34" charset="0"/>
              <a:buChar char="•"/>
            </a:pPr>
            <a:r>
              <a:rPr lang="en-US" sz="2000" dirty="0">
                <a:latin typeface="Arial" pitchFamily="34" charset="0"/>
                <a:cs typeface="Arial" pitchFamily="34" charset="0"/>
              </a:rPr>
              <a:t>Problem Statement ID – 26186</a:t>
            </a:r>
          </a:p>
          <a:p>
            <a:pPr marL="342900" indent="-342900" algn="just">
              <a:buFont typeface="Arial" pitchFamily="34" charset="0"/>
              <a:buChar char="•"/>
            </a:pPr>
            <a:r>
              <a:rPr lang="en-US" sz="2000" dirty="0">
                <a:latin typeface="Arial" pitchFamily="34" charset="0"/>
                <a:cs typeface="Arial" pitchFamily="34" charset="0"/>
              </a:rPr>
              <a:t>Problem Statement Title- AI-Based Predictive Personnel Stress and Welfare Monitoring System for Uniformed Forces</a:t>
            </a:r>
          </a:p>
          <a:p>
            <a:pPr marL="342900" indent="-342900" algn="just">
              <a:buFont typeface="Arial" pitchFamily="34" charset="0"/>
              <a:buChar char="•"/>
            </a:pPr>
            <a:r>
              <a:rPr lang="en-US" sz="2000" dirty="0">
                <a:latin typeface="Arial" pitchFamily="34" charset="0"/>
                <a:cs typeface="Arial" pitchFamily="34" charset="0"/>
              </a:rPr>
              <a:t>Theme- MedTech / BioTech / HealthTech</a:t>
            </a:r>
          </a:p>
          <a:p>
            <a:pPr marL="342900" indent="-342900" algn="just">
              <a:buFont typeface="Arial" pitchFamily="34" charset="0"/>
              <a:buChar char="•"/>
            </a:pPr>
            <a:r>
              <a:rPr lang="en-US" sz="2000" dirty="0">
                <a:latin typeface="Arial" pitchFamily="34" charset="0"/>
                <a:cs typeface="Arial" pitchFamily="34" charset="0"/>
              </a:rPr>
              <a:t>PS Category- Software</a:t>
            </a:r>
          </a:p>
          <a:p>
            <a:pPr marL="342900" indent="-342900" algn="just">
              <a:buFont typeface="Arial" pitchFamily="34" charset="0"/>
              <a:buChar char="•"/>
            </a:pPr>
            <a:r>
              <a:rPr lang="en-US" sz="2000" dirty="0">
                <a:latin typeface="Arial" pitchFamily="34" charset="0"/>
                <a:cs typeface="Arial" pitchFamily="34" charset="0"/>
              </a:rPr>
              <a:t>Team ID- [fill after registration]</a:t>
            </a:r>
          </a:p>
          <a:p>
            <a:pPr marL="342900" indent="-342900" algn="just">
              <a:buFont typeface="Arial" pitchFamily="34" charset="0"/>
              <a:buChar char="•"/>
            </a:pPr>
            <a:r>
              <a:rPr lang="en-US" sz="2000" dirty="0">
                <a:latin typeface="Arial" pitchFamily="34" charset="0"/>
                <a:cs typeface="Arial" pitchFamily="34" charset="0"/>
              </a:rPr>
              <a:t>Team Name (Registered on portal)- [Your Team Name]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/>
            </a:r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IDEA TITLE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-1" y="2064921"/>
            <a:ext cx="12191999" cy="24929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0" indent="0" algn="l">
              <a:buNone/>
            </a:pPr>
            <a:r>
              <a:rPr lang="en-US" sz="1600" b="1" u="sng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Sentinel: An Explainable, Privacy-First Early-Warning &amp; Welfare Decision-Support Platform for CAPF Personnel</a:t>
            </a:r>
          </a:p>
          <a:p>
            <a:pPr marL="0" indent="0" algn="l">
              <a:buNone/>
            </a:pPr>
            <a:r>
              <a:rPr lang="en-US" sz="1600" b="1" u="sng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Detailed explanation</a:t>
            </a:r>
          </a:p>
          <a:p>
            <a:pPr marL="342900" indent="-342900" algn="just">
              <a:buFont typeface="Arial" pitchFamily="34" charset="0"/>
              <a:buChar char="•"/>
            </a:pPr>
            <a:r>
              <a:rPr lang="en-US" sz="1400" dirty="0">
                <a:latin typeface="Arial" pitchFamily="34" charset="0"/>
                <a:cs typeface="Arial" pitchFamily="34" charset="0"/>
              </a:rPr>
              <a:t>Fuses HR/deployment/leave/workload trends with voluntary wellness self-assessments into a longitudinal, unit-level risk-trajectory model — not a one-time score</a:t>
            </a:r>
          </a:p>
          <a:p>
            <a:pPr marL="342900" indent="-342900" algn="just">
              <a:buFont typeface="Arial" pitchFamily="34" charset="0"/>
              <a:buChar char="•"/>
            </a:pPr>
            <a:r>
              <a:rPr lang="en-US" sz="1400" dirty="0">
                <a:latin typeface="Arial" pitchFamily="34" charset="0"/>
                <a:cs typeface="Arial" pitchFamily="34" charset="0"/>
              </a:rPr>
              <a:t>Human-in-the-loop by design: AI surfaces changing patterns for review by trained welfare officers; it never renders a clinical diagnosis (no PTSD/depression labels)</a:t>
            </a:r>
          </a:p>
          <a:p>
            <a:pPr marL="342900" indent="-342900" algn="just">
              <a:buFont typeface="Arial" pitchFamily="34" charset="0"/>
              <a:buChar char="•"/>
            </a:pPr>
            <a:r>
              <a:rPr lang="en-US" sz="1400" dirty="0">
                <a:latin typeface="Arial" pitchFamily="34" charset="0"/>
                <a:cs typeface="Arial" pitchFamily="34" charset="0"/>
              </a:rPr>
              <a:t>Three role-based views: Personnel (own data + consent controls), Welfare Officer (assigned cases + explainable evidence), Commander (aggregated unit trends only)</a:t>
            </a:r>
          </a:p>
          <a:p>
            <a:pPr marL="0" indent="0" algn="l">
              <a:buNone/>
            </a:pPr>
            <a:r>
              <a:rPr lang="en-US" sz="1600" b="1" u="sng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How it addresses the problem</a:t>
            </a:r>
          </a:p>
          <a:p>
            <a:pPr marL="342900" indent="-342900" algn="just">
              <a:buFont typeface="Arial" pitchFamily="34" charset="0"/>
              <a:buChar char="•"/>
            </a:pPr>
            <a:r>
              <a:rPr lang="en-US" sz="1400" dirty="0">
                <a:latin typeface="Arial" pitchFamily="34" charset="0"/>
                <a:cs typeface="Arial" pitchFamily="34" charset="0"/>
              </a:rPr>
              <a:t>Shifts welfare management from reactive, self-report-dependent detection to proactive, trend-based, privacy-preserving screening</a:t>
            </a:r>
          </a:p>
          <a:p>
            <a:pPr marL="342900" indent="-342900" algn="just">
              <a:buFont typeface="Arial" pitchFamily="34" charset="0"/>
              <a:buChar char="•"/>
            </a:pPr>
            <a:r>
              <a:rPr lang="en-US" sz="1400" dirty="0">
                <a:latin typeface="Arial" pitchFamily="34" charset="0"/>
                <a:cs typeface="Arial" pitchFamily="34" charset="0"/>
              </a:rPr>
              <a:t>Ranks welfare-officer attention under limited counselling resources instead of flooding commanders with raw, undifferentiated alerts</a:t>
            </a:r>
          </a:p>
          <a:p>
            <a:pPr marL="0" indent="0" algn="l">
              <a:buNone/>
            </a:pPr>
            <a:r>
              <a:rPr lang="en-US" sz="1600" b="1" u="sng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Innovation and uniqueness of the solution</a:t>
            </a:r>
          </a:p>
          <a:p>
            <a:pPr marL="342900" indent="-342900" algn="just">
              <a:buFont typeface="Arial" pitchFamily="34" charset="0"/>
              <a:buChar char="•"/>
            </a:pPr>
            <a:r>
              <a:rPr lang="en-US" sz="1400" dirty="0">
                <a:latin typeface="Arial" pitchFamily="34" charset="0"/>
                <a:cs typeface="Arial" pitchFamily="34" charset="0"/>
              </a:rPr>
              <a:t>Trajectory-based risk modelling with calibrated confidence and explainable reason-codes — clearly separating risk indicator, screening signal, prediction, and clinical diagnosis</a:t>
            </a:r>
          </a:p>
          <a:p>
            <a:pPr marL="342900" indent="-342900" algn="just">
              <a:buFont typeface="Arial" pitchFamily="34" charset="0"/>
              <a:buChar char="•"/>
            </a:pPr>
            <a:r>
              <a:rPr lang="en-US" sz="1400" dirty="0">
                <a:latin typeface="Arial" pitchFamily="34" charset="0"/>
                <a:cs typeface="Arial" pitchFamily="34" charset="0"/>
              </a:rPr>
              <a:t>Psychology-informed construct and questionnaire design (by team’s psychology members) grounding features in validated behavioural theory, not generic sentiment/NLP</a:t>
            </a:r>
          </a:p>
          <a:p>
            <a:pPr marL="342900" indent="-342900" algn="just">
              <a:buFont typeface="Arial" pitchFamily="34" charset="0"/>
              <a:buChar char="•"/>
            </a:pPr>
            <a:r>
              <a:rPr lang="en-US" sz="1400" dirty="0">
                <a:latin typeface="Arial" pitchFamily="34" charset="0"/>
                <a:cs typeface="Arial" pitchFamily="34" charset="0"/>
              </a:rPr>
              <a:t>Welfare-prioritisation modelled as a constrained ranking/resource-allocation problem (DAA) — genuinely algorithmic, not "LLM + dashboard"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8158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0" indent="0" algn="l">
              <a:buNone/>
            </a:pPr>
            <a:r>
              <a:rPr lang="en-US" sz="1500" b="1" u="sng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Technologies to be used</a:t>
            </a:r>
          </a:p>
          <a:p>
            <a:pPr marL="342900" indent="-342900" algn="just">
              <a:buFont typeface="Arial" pitchFamily="34" charset="0"/>
              <a:buChar char="•"/>
            </a:pPr>
            <a:r>
              <a:rPr lang="en-US" sz="1300" dirty="0">
                <a:latin typeface="Arial" pitchFamily="34" charset="0"/>
                <a:cs typeface="Arial" pitchFamily="34" charset="0"/>
              </a:rPr>
              <a:t>Backend: Python (FastAPI), PostgreSQL with field-level AES-256 encryption; Mobile self-assessment app: Flutter</a:t>
            </a:r>
          </a:p>
          <a:p>
            <a:pPr marL="342900" indent="-342900" algn="just">
              <a:buFont typeface="Arial" pitchFamily="34" charset="0"/>
              <a:buChar char="•"/>
            </a:pPr>
            <a:r>
              <a:rPr lang="en-US" sz="1300" dirty="0">
                <a:latin typeface="Arial" pitchFamily="34" charset="0"/>
                <a:cs typeface="Arial" pitchFamily="34" charset="0"/>
              </a:rPr>
              <a:t>ML: scikit-learn / XGBoost for calibrated risk classifiers, SHAP for explainable reason-codes; interpretable baseline (logistic regression) before any ensemble</a:t>
            </a:r>
          </a:p>
          <a:p>
            <a:pPr marL="342900" indent="-342900" algn="just">
              <a:buFont typeface="Arial" pitchFamily="34" charset="0"/>
              <a:buChar char="•"/>
            </a:pPr>
            <a:r>
              <a:rPr lang="en-US" sz="1300" dirty="0">
                <a:latin typeface="Arial" pitchFamily="34" charset="0"/>
                <a:cs typeface="Arial" pitchFamily="34" charset="0"/>
              </a:rPr>
              <a:t>Security: RBAC + JWT auth, pseudonymised identifiers, audit logging, consent management</a:t>
            </a:r>
          </a:p>
          <a:p>
            <a:pPr marL="342900" indent="-342900" algn="just">
              <a:buFont typeface="Arial" pitchFamily="34" charset="0"/>
              <a:buChar char="•"/>
            </a:pPr>
            <a:r>
              <a:rPr lang="en-US" sz="1300" dirty="0">
                <a:latin typeface="Arial" pitchFamily="34" charset="0"/>
                <a:cs typeface="Arial" pitchFamily="34" charset="0"/>
              </a:rPr>
              <a:t>Optional IoT (demo-only): ESP32 + PPG/heart-rate &amp; sleep-actigraphy sensors for a non-diagnostic physiological module</a:t>
            </a:r>
          </a:p>
          <a:p>
            <a:pPr marL="0" indent="0" algn="l">
              <a:buNone/>
            </a:pPr>
            <a:r>
              <a:rPr lang="en-US" sz="1500" b="1" u="sng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Methodology and implementation process</a:t>
            </a:r>
          </a:p>
          <a:p>
            <a:pPr marL="342900" indent="-342900" algn="just">
              <a:buFont typeface="Arial" pitchFamily="34" charset="0"/>
              <a:buChar char="•"/>
            </a:pPr>
            <a:r>
              <a:rPr lang="en-US" sz="1300" dirty="0">
                <a:latin typeface="Arial" pitchFamily="34" charset="0"/>
                <a:cs typeface="Arial" pitchFamily="34" charset="0"/>
              </a:rPr>
              <a:t>Data layer (HR, leave, deployment, self-assessment) → feature engineering (workload delta, leave-recovery ratio, deployment exposure, assessment-trend slope)</a:t>
            </a:r>
          </a:p>
          <a:p>
            <a:pPr marL="342900" indent="-342900" algn="just">
              <a:buFont typeface="Arial" pitchFamily="34" charset="0"/>
              <a:buChar char="•"/>
            </a:pPr>
            <a:r>
              <a:rPr lang="en-US" sz="1300" dirty="0">
                <a:latin typeface="Arial" pitchFamily="34" charset="0"/>
                <a:cs typeface="Arial" pitchFamily="34" charset="0"/>
              </a:rPr>
              <a:t>Baseline interpretable model → calibrated ensemble once data volume justifies it → explainability layer outputs confidence + reason-codes, not a bare score</a:t>
            </a:r>
          </a:p>
          <a:p>
            <a:pPr marL="342900" indent="-342900" algn="just">
              <a:buFont typeface="Arial" pitchFamily="34" charset="0"/>
              <a:buChar char="•"/>
            </a:pPr>
            <a:r>
              <a:rPr lang="en-US" sz="1300" dirty="0">
                <a:latin typeface="Arial" pitchFamily="34" charset="0"/>
                <a:cs typeface="Arial" pitchFamily="34" charset="0"/>
              </a:rPr>
              <a:t>Welfare-prioritisation layer ranks open cases for limited counselling slots (constrained optimisation / weighted ranking)</a:t>
            </a:r>
          </a:p>
          <a:p>
            <a:pPr marL="342900" indent="-342900" algn="just">
              <a:buFont typeface="Arial" pitchFamily="34" charset="0"/>
              <a:buChar char="•"/>
            </a:pPr>
            <a:r>
              <a:rPr lang="en-US" sz="1300" dirty="0">
                <a:latin typeface="Arial" pitchFamily="34" charset="0"/>
                <a:cs typeface="Arial" pitchFamily="34" charset="0"/>
              </a:rPr>
              <a:t>Feedback loop: intervention → follow-up assessment → outcome label → model recalibration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0" indent="0" algn="l">
              <a:buNone/>
            </a:pPr>
            <a:r>
              <a:rPr lang="en-US" sz="1500" b="1" u="sng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Feasibility</a:t>
            </a:r>
          </a:p>
          <a:p>
            <a:pPr marL="342900" indent="-342900" algn="just">
              <a:buFont typeface="Arial" pitchFamily="34" charset="0"/>
              <a:buChar char="•"/>
            </a:pPr>
            <a:r>
              <a:rPr lang="en-US" sz="1300" dirty="0">
                <a:latin typeface="Arial" pitchFamily="34" charset="0"/>
                <a:cs typeface="Arial" pitchFamily="34" charset="0"/>
              </a:rPr>
              <a:t>Demonstrable MVP: simulated HR + self-assessment data, working risk-scoring pipeline, explainability, RBAC dashboard, mobile self-assessment app</a:t>
            </a:r>
          </a:p>
          <a:p>
            <a:pPr marL="342900" indent="-342900" algn="just">
              <a:buFont typeface="Arial" pitchFamily="34" charset="0"/>
              <a:buChar char="•"/>
            </a:pPr>
            <a:r>
              <a:rPr lang="en-US" sz="1300" dirty="0">
                <a:latin typeface="Arial" pitchFamily="34" charset="0"/>
                <a:cs typeface="Arial" pitchFamily="34" charset="0"/>
              </a:rPr>
              <a:t>Prototype extension: constrained welfare-prioritisation solver, simulated longitudinal trajectories, optional non-diagnostic wearable demo</a:t>
            </a:r>
          </a:p>
          <a:p>
            <a:pPr marL="342900" indent="-342900" algn="just">
              <a:buFont typeface="Arial" pitchFamily="34" charset="0"/>
              <a:buChar char="•"/>
            </a:pPr>
            <a:r>
              <a:rPr lang="en-US" sz="1300" dirty="0">
                <a:latin typeface="Arial" pitchFamily="34" charset="0"/>
                <a:cs typeface="Arial" pitchFamily="34" charset="0"/>
              </a:rPr>
              <a:t>Real deployment needs (future/out of hackathon scope): CRPF HRMS integration, clinical validation, ethics clearance, larger real operational datasets, regulatory approval</a:t>
            </a:r>
          </a:p>
          <a:p>
            <a:pPr marL="0" indent="0" algn="l">
              <a:buNone/>
            </a:pPr>
            <a:r>
              <a:rPr lang="en-US" sz="1500" b="1" u="sng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Potential challenges, risks and mitigation</a:t>
            </a:r>
          </a:p>
          <a:p>
            <a:pPr marL="342900" indent="-342900" algn="just">
              <a:buFont typeface="Arial" pitchFamily="34" charset="0"/>
              <a:buChar char="•"/>
            </a:pPr>
            <a:r>
              <a:rPr lang="en-US" sz="1300" dirty="0">
                <a:latin typeface="Arial" pitchFamily="34" charset="0"/>
                <a:cs typeface="Arial" pitchFamily="34" charset="0"/>
              </a:rPr>
              <a:t>Privacy/trust erosion → role-based data minimisation, consent-first design, welfare (not disciplinary) framing, transparent audit logs</a:t>
            </a:r>
          </a:p>
          <a:p>
            <a:pPr marL="342900" indent="-342900" algn="just">
              <a:buFont typeface="Arial" pitchFamily="34" charset="0"/>
              <a:buChar char="•"/>
            </a:pPr>
            <a:r>
              <a:rPr lang="en-US" sz="1300" dirty="0">
                <a:latin typeface="Arial" pitchFamily="34" charset="0"/>
                <a:cs typeface="Arial" pitchFamily="34" charset="0"/>
              </a:rPr>
              <a:t>Stigmatisation from false positives/negatives → calibrated probabilities, confidence bands, mandatory human review before any action</a:t>
            </a:r>
          </a:p>
          <a:p>
            <a:pPr marL="342900" indent="-342900" algn="just">
              <a:buFont typeface="Arial" pitchFamily="34" charset="0"/>
              <a:buChar char="•"/>
            </a:pPr>
            <a:r>
              <a:rPr lang="en-US" sz="1300" dirty="0">
                <a:latin typeface="Arial" pitchFamily="34" charset="0"/>
                <a:cs typeface="Arial" pitchFamily="34" charset="0"/>
              </a:rPr>
              <a:t>Small/simulated data limiting model validity → start with interpretable baselines; avoid over-claiming deep-learning accuracy</a:t>
            </a:r>
          </a:p>
          <a:p>
            <a:pPr marL="342900" indent="-342900" algn="just">
              <a:buFont typeface="Arial" pitchFamily="34" charset="0"/>
              <a:buChar char="•"/>
            </a:pPr>
            <a:r>
              <a:rPr lang="en-US" sz="1300" dirty="0">
                <a:latin typeface="Arial" pitchFamily="34" charset="0"/>
                <a:cs typeface="Arial" pitchFamily="34" charset="0"/>
              </a:rPr>
              <a:t>Cybersecurity of sensitive psychological data → encryption, least-privilege access, anonymised aggregate-only command-level views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0" indent="0" algn="l">
              <a:buNone/>
            </a:pPr>
            <a:r>
              <a:rPr lang="en-US" sz="1500" b="1" u="sng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Potential impact on the target audience</a:t>
            </a:r>
          </a:p>
          <a:p>
            <a:pPr marL="342900" indent="-342900" algn="just">
              <a:buFont typeface="Arial" pitchFamily="34" charset="0"/>
              <a:buChar char="•"/>
            </a:pPr>
            <a:r>
              <a:rPr lang="en-US" sz="1300" dirty="0">
                <a:latin typeface="Arial" pitchFamily="34" charset="0"/>
                <a:cs typeface="Arial" pitchFamily="34" charset="0"/>
              </a:rPr>
              <a:t>Personnel: earlier, less stigmatising access to welfare support; agency via consent controls over their own data</a:t>
            </a:r>
          </a:p>
          <a:p>
            <a:pPr marL="342900" indent="-342900" algn="just">
              <a:buFont typeface="Arial" pitchFamily="34" charset="0"/>
              <a:buChar char="•"/>
            </a:pPr>
            <a:r>
              <a:rPr lang="en-US" sz="1300" dirty="0">
                <a:latin typeface="Arial" pitchFamily="34" charset="0"/>
                <a:cs typeface="Arial" pitchFamily="34" charset="0"/>
              </a:rPr>
              <a:t>Welfare officers/commanders: evidence-based, prioritised case load instead of relying only on manual observation and self-reporting</a:t>
            </a:r>
          </a:p>
          <a:p>
            <a:pPr marL="342900" indent="-342900" algn="just">
              <a:buFont typeface="Arial" pitchFamily="34" charset="0"/>
              <a:buChar char="•"/>
            </a:pPr>
            <a:r>
              <a:rPr lang="en-US" sz="1300" dirty="0">
                <a:latin typeface="Arial" pitchFamily="34" charset="0"/>
                <a:cs typeface="Arial" pitchFamily="34" charset="0"/>
              </a:rPr>
              <a:t>Force-wide: shift from reactive crisis response to preventive, welfare-first management</a:t>
            </a:r>
          </a:p>
          <a:p>
            <a:pPr marL="0" indent="0" algn="l">
              <a:buNone/>
            </a:pPr>
            <a:r>
              <a:rPr lang="en-US" sz="1500" b="1" u="sng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Benefits of the solution</a:t>
            </a:r>
          </a:p>
          <a:p>
            <a:pPr marL="342900" indent="-342900" algn="just">
              <a:buFont typeface="Arial" pitchFamily="34" charset="0"/>
              <a:buChar char="•"/>
            </a:pPr>
            <a:r>
              <a:rPr lang="en-US" sz="1300" dirty="0">
                <a:latin typeface="Arial" pitchFamily="34" charset="0"/>
                <a:cs typeface="Arial" pitchFamily="34" charset="0"/>
              </a:rPr>
              <a:t>Operational: better-informed workload/deployment planning; supports evidence-based welfare management</a:t>
            </a:r>
          </a:p>
          <a:p>
            <a:pPr marL="342900" indent="-342900" algn="just">
              <a:buFont typeface="Arial" pitchFamily="34" charset="0"/>
              <a:buChar char="•"/>
            </a:pPr>
            <a:r>
              <a:rPr lang="en-US" sz="1300" dirty="0">
                <a:latin typeface="Arial" pitchFamily="34" charset="0"/>
                <a:cs typeface="Arial" pitchFamily="34" charset="0"/>
              </a:rPr>
              <a:t>Social: reduces stigma by keeping raw psychological data out of the command chain; positions the system as support, not surveillance</a:t>
            </a:r>
          </a:p>
          <a:p>
            <a:pPr marL="342900" indent="-342900" algn="just">
              <a:buFont typeface="Arial" pitchFamily="34" charset="0"/>
              <a:buChar char="•"/>
            </a:pPr>
            <a:r>
              <a:rPr lang="en-US" sz="1300" dirty="0">
                <a:latin typeface="Arial" pitchFamily="34" charset="0"/>
                <a:cs typeface="Arial" pitchFamily="34" charset="0"/>
              </a:rPr>
              <a:t>Scalability: same architecture extends to State Police, disaster-response teams and other high-stress government workforces</a:t>
            </a:r>
          </a:p>
          <a:p>
            <a:pPr marL="342900" indent="-342900" algn="just">
              <a:buFont typeface="Arial" pitchFamily="34" charset="0"/>
              <a:buChar char="•"/>
            </a:pPr>
            <a:r>
              <a:rPr lang="en-US" sz="1300" dirty="0">
                <a:latin typeface="Arial" pitchFamily="34" charset="0"/>
                <a:cs typeface="Arial" pitchFamily="34" charset="0"/>
              </a:rPr>
              <a:t>Strategic: indigenous capability tailored to CAPF’s operational and cultural context, rather than a generic corporate wellness tool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795263"/>
            <a:ext cx="93853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0" indent="0" algn="l">
              <a:buNone/>
            </a:pPr>
            <a:r>
              <a:rPr lang="en-US" sz="1400" b="1" u="sng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Datasets referenced for method design (not CRPF operational data)</a:t>
            </a:r>
          </a:p>
          <a:p>
            <a:pPr marL="342900" indent="-342900" algn="just">
              <a:buFont typeface="Arial" pitchFamily="34" charset="0"/>
              <a:buChar char="•"/>
            </a:pPr>
            <a:r>
              <a:rPr lang="en-US" sz="1200" dirty="0">
                <a:latin typeface="Arial" pitchFamily="34" charset="0"/>
                <a:cs typeface="Arial" pitchFamily="34" charset="0"/>
              </a:rPr>
              <a:t>WESAD (Wearable Stress and Affect Detection) – Schmidt et al., ACM ICMI 2018 – physiological stress dataset</a:t>
            </a:r>
          </a:p>
          <a:p>
            <a:pPr marL="342900" indent="-342900" algn="just">
              <a:buFont typeface="Arial" pitchFamily="34" charset="0"/>
              <a:buChar char="•"/>
            </a:pPr>
            <a:r>
              <a:rPr lang="en-US" sz="1200" dirty="0">
                <a:latin typeface="Arial" pitchFamily="34" charset="0"/>
                <a:cs typeface="Arial" pitchFamily="34" charset="0"/>
              </a:rPr>
              <a:t>DAIC-WOZ (Distress Analysis Interview Corpus) – USC Institute for Creative Technologies – behavioural distress-screening corpus</a:t>
            </a:r>
          </a:p>
          <a:p>
            <a:pPr marL="0" indent="0" algn="l">
              <a:buNone/>
            </a:pPr>
            <a:r>
              <a:rPr lang="en-US" sz="1400" b="1" u="sng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Key methods</a:t>
            </a:r>
          </a:p>
          <a:p>
            <a:pPr marL="342900" indent="-342900" algn="just">
              <a:buFont typeface="Arial" pitchFamily="34" charset="0"/>
              <a:buChar char="•"/>
            </a:pPr>
            <a:r>
              <a:rPr lang="en-US" sz="1200" dirty="0">
                <a:latin typeface="Arial" pitchFamily="34" charset="0"/>
                <a:cs typeface="Arial" pitchFamily="34" charset="0"/>
              </a:rPr>
              <a:t>SHAP – Lundberg &amp; Lee, "A Unified Approach to Interpreting Model Predictions," NeurIPS 2017 – explainability layer</a:t>
            </a:r>
          </a:p>
          <a:p>
            <a:pPr marL="342900" indent="-342900" algn="just">
              <a:buFont typeface="Arial" pitchFamily="34" charset="0"/>
              <a:buChar char="•"/>
            </a:pPr>
            <a:r>
              <a:rPr lang="en-US" sz="1200" dirty="0">
                <a:latin typeface="Arial" pitchFamily="34" charset="0"/>
                <a:cs typeface="Arial" pitchFamily="34" charset="0"/>
              </a:rPr>
              <a:t>Comprehensive Soldier and Family Fitness – US DoD resilience/wellness program – precedent for military welfare programs</a:t>
            </a:r>
          </a:p>
          <a:p>
            <a:pPr marL="0" indent="0" algn="l">
              <a:buNone/>
            </a:pPr>
            <a:r>
              <a:rPr lang="en-US" sz="1400" b="1" u="sng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Note</a:t>
            </a:r>
          </a:p>
          <a:p>
            <a:pPr marL="342900" indent="-342900" algn="just">
              <a:buFont typeface="Arial" pitchFamily="34" charset="0"/>
              <a:buChar char="•"/>
            </a:pPr>
            <a:r>
              <a:rPr lang="en-US" sz="1200" dirty="0">
                <a:latin typeface="Arial" pitchFamily="34" charset="0"/>
                <a:cs typeface="Arial" pitchFamily="34" charset="0"/>
              </a:rPr>
              <a:t>Web search was not available in this session; the team must independently re-verify every citation above and add current SIH-year literature/precedents before final submission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7489</TotalTime>
  <Words>325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AICTE</cp:lastModifiedBy>
  <cp:revision>148</cp:revision>
  <dcterms:created xsi:type="dcterms:W3CDTF">2013-12-12T18:46:50Z</dcterms:created>
  <dcterms:modified xsi:type="dcterms:W3CDTF">2026-06-02T09:29:39Z</dcterms:modified>
  <cp:category/>
</cp:coreProperties>
</file>