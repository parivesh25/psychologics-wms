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Times New Roman" charset="1" panose="02020603050405020304"/>
      <p:regular r:id="rId22"/>
    </p:embeddedFont>
    <p:embeddedFont>
      <p:font typeface="Canva Sans" charset="1" panose="020B0503030501040103"/>
      <p:regular r:id="rId25"/>
    </p:embeddedFont>
    <p:embeddedFont>
      <p:font typeface="Times New Roman MT Bold" charset="1" panose="02030802070405020303"/>
      <p:regular r:id="rId27"/>
    </p:embeddedFont>
    <p:embeddedFont>
      <p:font typeface="Times New Roman MT" charset="1" panose="02030502070405020303"/>
      <p:regular r:id="rId28"/>
    </p:embeddedFont>
    <p:embeddedFont>
      <p:font typeface="Arial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2620956"/>
            <a:ext cx="8703945" cy="385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ID- 26186</a:t>
            </a: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AI-Based Predictive Personnel Stress and Welfare Monitoring System for Uniformed Forces</a:t>
            </a: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MedTech / BioTech / HealthTech</a:t>
            </a: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289560" indent="-144780" lvl="1">
              <a:lnSpc>
                <a:spcPts val="38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PsychoLogics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-591277"/>
            <a:ext cx="16459200" cy="1901195"/>
            <a:chOff x="0" y="0"/>
            <a:chExt cx="21945600" cy="2534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927"/>
            </a:xfrm>
            <a:custGeom>
              <a:avLst/>
              <a:gdLst/>
              <a:ahLst/>
              <a:cxnLst/>
              <a:rect r="r" b="b" t="t" l="l"/>
              <a:pathLst>
                <a:path h="253492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927"/>
                  </a:lnTo>
                  <a:lnTo>
                    <a:pt x="0" y="25349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7" r="0" b="-1137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WMS-Welfare Monitoring System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297" y="1567177"/>
            <a:ext cx="18043407" cy="14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134" indent="-297567" lvl="1">
              <a:lnSpc>
                <a:spcPts val="3307"/>
              </a:lnSpc>
              <a:buFont typeface="Arial"/>
              <a:buChar char="•"/>
            </a:pPr>
            <a:r>
              <a:rPr lang="en-US" b="true" sz="2756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 A Privacy first Early Warning Welfare Monitoring system for Uniformed Personnel</a:t>
            </a:r>
          </a:p>
          <a:p>
            <a:pPr algn="l">
              <a:lnSpc>
                <a:spcPts val="964"/>
              </a:lnSpc>
            </a:pPr>
          </a:p>
          <a:p>
            <a:pPr algn="l" marL="197465" indent="-98733" lvl="1">
              <a:lnSpc>
                <a:spcPts val="1309"/>
              </a:lnSpc>
            </a:pPr>
          </a:p>
          <a:p>
            <a:pPr algn="just">
              <a:lnSpc>
                <a:spcPts val="2894"/>
              </a:lnSpc>
            </a:pPr>
          </a:p>
          <a:p>
            <a:pPr algn="just">
              <a:lnSpc>
                <a:spcPts val="289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2321023" cy="1249101"/>
            <a:chOff x="0" y="0"/>
            <a:chExt cx="3094698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3094652" cy="1665481"/>
            </a:xfrm>
            <a:custGeom>
              <a:avLst/>
              <a:gdLst/>
              <a:ahLst/>
              <a:cxnLst/>
              <a:rect r="r" b="b" t="t" l="l"/>
              <a:pathLst>
                <a:path h="1665481" w="3094652">
                  <a:moveTo>
                    <a:pt x="0" y="832740"/>
                  </a:moveTo>
                  <a:cubicBezTo>
                    <a:pt x="0" y="372873"/>
                    <a:pt x="692812" y="0"/>
                    <a:pt x="1547326" y="0"/>
                  </a:cubicBezTo>
                  <a:cubicBezTo>
                    <a:pt x="2401840" y="0"/>
                    <a:pt x="3094652" y="372873"/>
                    <a:pt x="3094652" y="832740"/>
                  </a:cubicBezTo>
                  <a:cubicBezTo>
                    <a:pt x="3094652" y="1292608"/>
                    <a:pt x="2401840" y="1665481"/>
                    <a:pt x="1547326" y="1665481"/>
                  </a:cubicBezTo>
                  <a:cubicBezTo>
                    <a:pt x="692812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09469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PsychoLogics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2297" y="2017012"/>
            <a:ext cx="12985616" cy="299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Fuses voluntary wellness assessments with HR, deployment, leave, workload data to provide contextualized welfare-risk assessment rather than relying on isolated indicators.</a:t>
            </a:r>
          </a:p>
          <a:p>
            <a:pPr algn="l" marL="539748" indent="-269874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know RBAC: Personnel access their own wellness data; Welfare Officers access detailed information for assigned cases; Commanders receive appropriate unit-level/aggregated trends.</a:t>
            </a:r>
          </a:p>
          <a:p>
            <a:pPr algn="l" marL="539748" indent="-269874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based risk detection and explainable intervention: tracking changes in wellbeing and organizational conditions over time, identifying worsening trajectories, explaining contributing indicators, and trigger appropriate human welfare review/contact.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55644" y="4979224"/>
            <a:ext cx="11742625" cy="84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addresses the problem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Shifting welfare management from reactive, manual self-reporting to proactive intervention.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5644" y="6084138"/>
            <a:ext cx="11302689" cy="335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 Value Proposition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based risk modelling with calibrated confidence and explainable reason codes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Psychology-informed assessment: Using validated psychological constructs/scales to contextualize voluntary self-reported wellbeing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Calibrated &amp; explainable risk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confidence and contributing indicators to support human review rather than opaque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126122" cy="1249101"/>
            <a:chOff x="0" y="0"/>
            <a:chExt cx="2834830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834787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34787">
                  <a:moveTo>
                    <a:pt x="0" y="832740"/>
                  </a:moveTo>
                  <a:cubicBezTo>
                    <a:pt x="0" y="372873"/>
                    <a:pt x="634635" y="0"/>
                    <a:pt x="1417394" y="0"/>
                  </a:cubicBezTo>
                  <a:cubicBezTo>
                    <a:pt x="2200153" y="0"/>
                    <a:pt x="2834787" y="372873"/>
                    <a:pt x="2834787" y="832740"/>
                  </a:cubicBezTo>
                  <a:cubicBezTo>
                    <a:pt x="2834787" y="1292608"/>
                    <a:pt x="2200153" y="1665481"/>
                    <a:pt x="1417394" y="1665481"/>
                  </a:cubicBezTo>
                  <a:cubicBezTo>
                    <a:pt x="63463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834830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78177" y="-7143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5612" y="1643062"/>
            <a:ext cx="17289643" cy="7163511"/>
            <a:chOff x="0" y="0"/>
            <a:chExt cx="4553651" cy="18866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53651" cy="1886686"/>
            </a:xfrm>
            <a:custGeom>
              <a:avLst/>
              <a:gdLst/>
              <a:ahLst/>
              <a:cxnLst/>
              <a:rect r="r" b="b" t="t" l="l"/>
              <a:pathLst>
                <a:path h="1886686" w="4553651">
                  <a:moveTo>
                    <a:pt x="7612" y="0"/>
                  </a:moveTo>
                  <a:lnTo>
                    <a:pt x="4546039" y="0"/>
                  </a:lnTo>
                  <a:cubicBezTo>
                    <a:pt x="4548058" y="0"/>
                    <a:pt x="4549994" y="802"/>
                    <a:pt x="4551421" y="2230"/>
                  </a:cubicBezTo>
                  <a:cubicBezTo>
                    <a:pt x="4552849" y="3657"/>
                    <a:pt x="4553651" y="5593"/>
                    <a:pt x="4553651" y="7612"/>
                  </a:cubicBezTo>
                  <a:lnTo>
                    <a:pt x="4553651" y="1879074"/>
                  </a:lnTo>
                  <a:cubicBezTo>
                    <a:pt x="4553651" y="1881093"/>
                    <a:pt x="4552849" y="1883029"/>
                    <a:pt x="4551421" y="1884456"/>
                  </a:cubicBezTo>
                  <a:cubicBezTo>
                    <a:pt x="4549994" y="1885884"/>
                    <a:pt x="4548058" y="1886686"/>
                    <a:pt x="4546039" y="1886686"/>
                  </a:cubicBezTo>
                  <a:lnTo>
                    <a:pt x="7612" y="1886686"/>
                  </a:lnTo>
                  <a:cubicBezTo>
                    <a:pt x="5593" y="1886686"/>
                    <a:pt x="3657" y="1885884"/>
                    <a:pt x="2230" y="1884456"/>
                  </a:cubicBezTo>
                  <a:cubicBezTo>
                    <a:pt x="802" y="1883029"/>
                    <a:pt x="0" y="1881093"/>
                    <a:pt x="0" y="1879074"/>
                  </a:cubicBezTo>
                  <a:lnTo>
                    <a:pt x="0" y="7612"/>
                  </a:lnTo>
                  <a:cubicBezTo>
                    <a:pt x="0" y="5593"/>
                    <a:pt x="802" y="3657"/>
                    <a:pt x="2230" y="2230"/>
                  </a:cubicBezTo>
                  <a:cubicBezTo>
                    <a:pt x="3657" y="802"/>
                    <a:pt x="5593" y="0"/>
                    <a:pt x="7612" y="0"/>
                  </a:cubicBezTo>
                  <a:close/>
                </a:path>
              </a:pathLst>
            </a:custGeom>
            <a:solidFill>
              <a:srgbClr val="D8EAF6"/>
            </a:solidFill>
            <a:ln w="38100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553651" cy="1905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22055" y="1865306"/>
            <a:ext cx="11308550" cy="6556387"/>
            <a:chOff x="0" y="0"/>
            <a:chExt cx="15078066" cy="874185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400532" cy="1282651"/>
              <a:chOff x="0" y="0"/>
              <a:chExt cx="812800" cy="30658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306581"/>
              </a:xfrm>
              <a:custGeom>
                <a:avLst/>
                <a:gdLst/>
                <a:ahLst/>
                <a:cxnLst/>
                <a:rect r="r" b="b" t="t" l="l"/>
                <a:pathLst>
                  <a:path h="306581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263934"/>
                    </a:lnTo>
                    <a:cubicBezTo>
                      <a:pt x="812800" y="287487"/>
                      <a:pt x="793706" y="306581"/>
                      <a:pt x="770153" y="306581"/>
                    </a:cubicBezTo>
                    <a:lnTo>
                      <a:pt x="42647" y="306581"/>
                    </a:lnTo>
                    <a:cubicBezTo>
                      <a:pt x="31336" y="306581"/>
                      <a:pt x="20489" y="302088"/>
                      <a:pt x="12491" y="294090"/>
                    </a:cubicBezTo>
                    <a:cubicBezTo>
                      <a:pt x="4493" y="286092"/>
                      <a:pt x="0" y="275245"/>
                      <a:pt x="0" y="263934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BCE3FF"/>
              </a:solidFill>
              <a:ln w="19050" cap="sq">
                <a:solidFill>
                  <a:srgbClr val="1F497D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812800" cy="3256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710823" y="8424"/>
              <a:ext cx="3400532" cy="1282651"/>
              <a:chOff x="0" y="0"/>
              <a:chExt cx="812800" cy="30658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306581"/>
              </a:xfrm>
              <a:custGeom>
                <a:avLst/>
                <a:gdLst/>
                <a:ahLst/>
                <a:cxnLst/>
                <a:rect r="r" b="b" t="t" l="l"/>
                <a:pathLst>
                  <a:path h="306581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263934"/>
                    </a:lnTo>
                    <a:cubicBezTo>
                      <a:pt x="812800" y="287487"/>
                      <a:pt x="793706" y="306581"/>
                      <a:pt x="770153" y="306581"/>
                    </a:cubicBezTo>
                    <a:lnTo>
                      <a:pt x="42647" y="306581"/>
                    </a:lnTo>
                    <a:cubicBezTo>
                      <a:pt x="31336" y="306581"/>
                      <a:pt x="20489" y="302088"/>
                      <a:pt x="12491" y="294090"/>
                    </a:cubicBezTo>
                    <a:cubicBezTo>
                      <a:pt x="4493" y="286092"/>
                      <a:pt x="0" y="275245"/>
                      <a:pt x="0" y="263934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BCE3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812800" cy="3256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7285246" y="0"/>
              <a:ext cx="3400532" cy="1282651"/>
              <a:chOff x="0" y="0"/>
              <a:chExt cx="812800" cy="30658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306581"/>
              </a:xfrm>
              <a:custGeom>
                <a:avLst/>
                <a:gdLst/>
                <a:ahLst/>
                <a:cxnLst/>
                <a:rect r="r" b="b" t="t" l="l"/>
                <a:pathLst>
                  <a:path h="306581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263934"/>
                    </a:lnTo>
                    <a:cubicBezTo>
                      <a:pt x="812800" y="287487"/>
                      <a:pt x="793706" y="306581"/>
                      <a:pt x="770153" y="306581"/>
                    </a:cubicBezTo>
                    <a:lnTo>
                      <a:pt x="42647" y="306581"/>
                    </a:lnTo>
                    <a:cubicBezTo>
                      <a:pt x="31336" y="306581"/>
                      <a:pt x="20489" y="302088"/>
                      <a:pt x="12491" y="294090"/>
                    </a:cubicBezTo>
                    <a:cubicBezTo>
                      <a:pt x="4493" y="286092"/>
                      <a:pt x="0" y="275245"/>
                      <a:pt x="0" y="263934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BCE3FF"/>
              </a:solidFill>
              <a:ln w="19050" cap="sq">
                <a:solidFill>
                  <a:srgbClr val="1F497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812800" cy="3256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0941365" y="8424"/>
              <a:ext cx="3400532" cy="1282651"/>
              <a:chOff x="0" y="0"/>
              <a:chExt cx="812800" cy="30658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306581"/>
              </a:xfrm>
              <a:custGeom>
                <a:avLst/>
                <a:gdLst/>
                <a:ahLst/>
                <a:cxnLst/>
                <a:rect r="r" b="b" t="t" l="l"/>
                <a:pathLst>
                  <a:path h="306581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263934"/>
                    </a:lnTo>
                    <a:cubicBezTo>
                      <a:pt x="812800" y="287487"/>
                      <a:pt x="793706" y="306581"/>
                      <a:pt x="770153" y="306581"/>
                    </a:cubicBezTo>
                    <a:lnTo>
                      <a:pt x="42647" y="306581"/>
                    </a:lnTo>
                    <a:cubicBezTo>
                      <a:pt x="31336" y="306581"/>
                      <a:pt x="20489" y="302088"/>
                      <a:pt x="12491" y="294090"/>
                    </a:cubicBezTo>
                    <a:cubicBezTo>
                      <a:pt x="4493" y="286092"/>
                      <a:pt x="0" y="275245"/>
                      <a:pt x="0" y="263934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BCE3FF"/>
              </a:solidFill>
              <a:ln w="19050" cap="sq">
                <a:solidFill>
                  <a:srgbClr val="1F497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812800" cy="3256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712780" y="484879"/>
              <a:ext cx="1646822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HR, Workload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195071" y="484879"/>
              <a:ext cx="2365988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Deployement/Leave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777135" y="337958"/>
              <a:ext cx="2361289" cy="59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487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Base Assessment/</a:t>
              </a:r>
            </a:p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Wellness Check-ins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405452" y="484879"/>
              <a:ext cx="2435229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Optional Physiology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2811032" y="2335237"/>
              <a:ext cx="8600645" cy="1304857"/>
              <a:chOff x="0" y="0"/>
              <a:chExt cx="2055739" cy="31188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55738" cy="311889"/>
              </a:xfrm>
              <a:custGeom>
                <a:avLst/>
                <a:gdLst/>
                <a:ahLst/>
                <a:cxnLst/>
                <a:rect r="r" b="b" t="t" l="l"/>
                <a:pathLst>
                  <a:path h="311889" w="2055738">
                    <a:moveTo>
                      <a:pt x="16862" y="0"/>
                    </a:moveTo>
                    <a:lnTo>
                      <a:pt x="2038877" y="0"/>
                    </a:lnTo>
                    <a:cubicBezTo>
                      <a:pt x="2043349" y="0"/>
                      <a:pt x="2047638" y="1777"/>
                      <a:pt x="2050800" y="4939"/>
                    </a:cubicBezTo>
                    <a:cubicBezTo>
                      <a:pt x="2053962" y="8101"/>
                      <a:pt x="2055738" y="12390"/>
                      <a:pt x="2055738" y="16862"/>
                    </a:cubicBezTo>
                    <a:lnTo>
                      <a:pt x="2055738" y="295027"/>
                    </a:lnTo>
                    <a:cubicBezTo>
                      <a:pt x="2055738" y="299499"/>
                      <a:pt x="2053962" y="303788"/>
                      <a:pt x="2050800" y="306950"/>
                    </a:cubicBezTo>
                    <a:cubicBezTo>
                      <a:pt x="2047638" y="310112"/>
                      <a:pt x="2043349" y="311889"/>
                      <a:pt x="2038877" y="311889"/>
                    </a:cubicBezTo>
                    <a:lnTo>
                      <a:pt x="16862" y="311889"/>
                    </a:lnTo>
                    <a:cubicBezTo>
                      <a:pt x="12390" y="311889"/>
                      <a:pt x="8101" y="310112"/>
                      <a:pt x="4939" y="306950"/>
                    </a:cubicBezTo>
                    <a:cubicBezTo>
                      <a:pt x="1777" y="303788"/>
                      <a:pt x="0" y="299499"/>
                      <a:pt x="0" y="295027"/>
                    </a:cubicBezTo>
                    <a:lnTo>
                      <a:pt x="0" y="16862"/>
                    </a:lnTo>
                    <a:cubicBezTo>
                      <a:pt x="0" y="12390"/>
                      <a:pt x="1777" y="8101"/>
                      <a:pt x="4939" y="4939"/>
                    </a:cubicBezTo>
                    <a:cubicBezTo>
                      <a:pt x="8101" y="1777"/>
                      <a:pt x="12390" y="0"/>
                      <a:pt x="16862" y="0"/>
                    </a:cubicBezTo>
                    <a:close/>
                  </a:path>
                </a:pathLst>
              </a:custGeom>
              <a:solidFill>
                <a:srgbClr val="FFCBCB"/>
              </a:solidFill>
              <a:ln w="19050" cap="sq">
                <a:solidFill>
                  <a:srgbClr val="C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2055739" cy="330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087098" y="2560062"/>
              <a:ext cx="3562342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 &amp; Feature Engineering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2811032" y="3870995"/>
              <a:ext cx="8600645" cy="1326370"/>
              <a:chOff x="0" y="0"/>
              <a:chExt cx="2055739" cy="31703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055738" cy="317031"/>
              </a:xfrm>
              <a:custGeom>
                <a:avLst/>
                <a:gdLst/>
                <a:ahLst/>
                <a:cxnLst/>
                <a:rect r="r" b="b" t="t" l="l"/>
                <a:pathLst>
                  <a:path h="317031" w="2055738">
                    <a:moveTo>
                      <a:pt x="16862" y="0"/>
                    </a:moveTo>
                    <a:lnTo>
                      <a:pt x="2038877" y="0"/>
                    </a:lnTo>
                    <a:cubicBezTo>
                      <a:pt x="2043349" y="0"/>
                      <a:pt x="2047638" y="1777"/>
                      <a:pt x="2050800" y="4939"/>
                    </a:cubicBezTo>
                    <a:cubicBezTo>
                      <a:pt x="2053962" y="8101"/>
                      <a:pt x="2055738" y="12390"/>
                      <a:pt x="2055738" y="16862"/>
                    </a:cubicBezTo>
                    <a:lnTo>
                      <a:pt x="2055738" y="300169"/>
                    </a:lnTo>
                    <a:cubicBezTo>
                      <a:pt x="2055738" y="304641"/>
                      <a:pt x="2053962" y="308930"/>
                      <a:pt x="2050800" y="312092"/>
                    </a:cubicBezTo>
                    <a:cubicBezTo>
                      <a:pt x="2047638" y="315254"/>
                      <a:pt x="2043349" y="317031"/>
                      <a:pt x="2038877" y="317031"/>
                    </a:cubicBezTo>
                    <a:lnTo>
                      <a:pt x="16862" y="317031"/>
                    </a:lnTo>
                    <a:cubicBezTo>
                      <a:pt x="12390" y="317031"/>
                      <a:pt x="8101" y="315254"/>
                      <a:pt x="4939" y="312092"/>
                    </a:cubicBezTo>
                    <a:cubicBezTo>
                      <a:pt x="1777" y="308930"/>
                      <a:pt x="0" y="304641"/>
                      <a:pt x="0" y="300169"/>
                    </a:cubicBezTo>
                    <a:lnTo>
                      <a:pt x="0" y="16862"/>
                    </a:lnTo>
                    <a:cubicBezTo>
                      <a:pt x="0" y="12390"/>
                      <a:pt x="1777" y="8101"/>
                      <a:pt x="4939" y="4939"/>
                    </a:cubicBezTo>
                    <a:cubicBezTo>
                      <a:pt x="8101" y="1777"/>
                      <a:pt x="12390" y="0"/>
                      <a:pt x="16862" y="0"/>
                    </a:cubicBezTo>
                    <a:close/>
                  </a:path>
                </a:pathLst>
              </a:custGeom>
              <a:solidFill>
                <a:srgbClr val="FFCBCB"/>
              </a:solidFill>
              <a:ln w="19050" cap="sq">
                <a:solidFill>
                  <a:srgbClr val="C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2055739" cy="336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811032" y="5428265"/>
              <a:ext cx="8600645" cy="1347361"/>
              <a:chOff x="0" y="0"/>
              <a:chExt cx="2055739" cy="32204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055738" cy="322048"/>
              </a:xfrm>
              <a:custGeom>
                <a:avLst/>
                <a:gdLst/>
                <a:ahLst/>
                <a:cxnLst/>
                <a:rect r="r" b="b" t="t" l="l"/>
                <a:pathLst>
                  <a:path h="322048" w="2055738">
                    <a:moveTo>
                      <a:pt x="16862" y="0"/>
                    </a:moveTo>
                    <a:lnTo>
                      <a:pt x="2038877" y="0"/>
                    </a:lnTo>
                    <a:cubicBezTo>
                      <a:pt x="2043349" y="0"/>
                      <a:pt x="2047638" y="1777"/>
                      <a:pt x="2050800" y="4939"/>
                    </a:cubicBezTo>
                    <a:cubicBezTo>
                      <a:pt x="2053962" y="8101"/>
                      <a:pt x="2055738" y="12390"/>
                      <a:pt x="2055738" y="16862"/>
                    </a:cubicBezTo>
                    <a:lnTo>
                      <a:pt x="2055738" y="305186"/>
                    </a:lnTo>
                    <a:cubicBezTo>
                      <a:pt x="2055738" y="309658"/>
                      <a:pt x="2053962" y="313947"/>
                      <a:pt x="2050800" y="317110"/>
                    </a:cubicBezTo>
                    <a:cubicBezTo>
                      <a:pt x="2047638" y="320272"/>
                      <a:pt x="2043349" y="322048"/>
                      <a:pt x="2038877" y="322048"/>
                    </a:cubicBezTo>
                    <a:lnTo>
                      <a:pt x="16862" y="322048"/>
                    </a:lnTo>
                    <a:cubicBezTo>
                      <a:pt x="12390" y="322048"/>
                      <a:pt x="8101" y="320272"/>
                      <a:pt x="4939" y="317110"/>
                    </a:cubicBezTo>
                    <a:cubicBezTo>
                      <a:pt x="1777" y="313947"/>
                      <a:pt x="0" y="309658"/>
                      <a:pt x="0" y="305186"/>
                    </a:cubicBezTo>
                    <a:lnTo>
                      <a:pt x="0" y="16862"/>
                    </a:lnTo>
                    <a:cubicBezTo>
                      <a:pt x="0" y="12390"/>
                      <a:pt x="1777" y="8101"/>
                      <a:pt x="4939" y="4939"/>
                    </a:cubicBezTo>
                    <a:cubicBezTo>
                      <a:pt x="8101" y="1777"/>
                      <a:pt x="12390" y="0"/>
                      <a:pt x="16862" y="0"/>
                    </a:cubicBezTo>
                    <a:close/>
                  </a:path>
                </a:pathLst>
              </a:custGeom>
              <a:solidFill>
                <a:srgbClr val="FFCBCB"/>
              </a:solidFill>
              <a:ln w="19050" cap="sq">
                <a:solidFill>
                  <a:srgbClr val="C00000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9050"/>
                <a:ext cx="2055739" cy="3410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3183276" y="3991387"/>
              <a:ext cx="1946025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AI/Risk Engine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183276" y="5544686"/>
              <a:ext cx="2973851" cy="303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5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Welfare Decision Engine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0" y="7067770"/>
              <a:ext cx="3087098" cy="1674080"/>
              <a:chOff x="0" y="0"/>
              <a:chExt cx="737883" cy="40014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37883" cy="400141"/>
              </a:xfrm>
              <a:custGeom>
                <a:avLst/>
                <a:gdLst/>
                <a:ahLst/>
                <a:cxnLst/>
                <a:rect r="r" b="b" t="t" l="l"/>
                <a:pathLst>
                  <a:path h="400141" w="737883">
                    <a:moveTo>
                      <a:pt x="46977" y="0"/>
                    </a:moveTo>
                    <a:lnTo>
                      <a:pt x="690906" y="0"/>
                    </a:lnTo>
                    <a:cubicBezTo>
                      <a:pt x="716850" y="0"/>
                      <a:pt x="737883" y="21032"/>
                      <a:pt x="737883" y="46977"/>
                    </a:cubicBezTo>
                    <a:lnTo>
                      <a:pt x="737883" y="353164"/>
                    </a:lnTo>
                    <a:cubicBezTo>
                      <a:pt x="737883" y="365623"/>
                      <a:pt x="732933" y="377572"/>
                      <a:pt x="724123" y="386382"/>
                    </a:cubicBezTo>
                    <a:cubicBezTo>
                      <a:pt x="715314" y="395192"/>
                      <a:pt x="703365" y="400141"/>
                      <a:pt x="690906" y="400141"/>
                    </a:cubicBezTo>
                    <a:lnTo>
                      <a:pt x="46977" y="400141"/>
                    </a:lnTo>
                    <a:cubicBezTo>
                      <a:pt x="34518" y="400141"/>
                      <a:pt x="22569" y="395192"/>
                      <a:pt x="13759" y="386382"/>
                    </a:cubicBezTo>
                    <a:cubicBezTo>
                      <a:pt x="4949" y="377572"/>
                      <a:pt x="0" y="365623"/>
                      <a:pt x="0" y="353164"/>
                    </a:cubicBezTo>
                    <a:lnTo>
                      <a:pt x="0" y="46977"/>
                    </a:lnTo>
                    <a:cubicBezTo>
                      <a:pt x="0" y="34518"/>
                      <a:pt x="4949" y="22569"/>
                      <a:pt x="13759" y="13759"/>
                    </a:cubicBezTo>
                    <a:cubicBezTo>
                      <a:pt x="22569" y="4949"/>
                      <a:pt x="34518" y="0"/>
                      <a:pt x="46977" y="0"/>
                    </a:cubicBezTo>
                    <a:close/>
                  </a:path>
                </a:pathLst>
              </a:custGeom>
              <a:solidFill>
                <a:srgbClr val="F1E5FF"/>
              </a:solidFill>
              <a:ln w="1905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737883" cy="419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3585752" y="7067770"/>
              <a:ext cx="3087098" cy="1674080"/>
              <a:chOff x="0" y="0"/>
              <a:chExt cx="737883" cy="40014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737883" cy="400141"/>
              </a:xfrm>
              <a:custGeom>
                <a:avLst/>
                <a:gdLst/>
                <a:ahLst/>
                <a:cxnLst/>
                <a:rect r="r" b="b" t="t" l="l"/>
                <a:pathLst>
                  <a:path h="400141" w="737883">
                    <a:moveTo>
                      <a:pt x="46977" y="0"/>
                    </a:moveTo>
                    <a:lnTo>
                      <a:pt x="690906" y="0"/>
                    </a:lnTo>
                    <a:cubicBezTo>
                      <a:pt x="716850" y="0"/>
                      <a:pt x="737883" y="21032"/>
                      <a:pt x="737883" y="46977"/>
                    </a:cubicBezTo>
                    <a:lnTo>
                      <a:pt x="737883" y="353164"/>
                    </a:lnTo>
                    <a:cubicBezTo>
                      <a:pt x="737883" y="365623"/>
                      <a:pt x="732933" y="377572"/>
                      <a:pt x="724123" y="386382"/>
                    </a:cubicBezTo>
                    <a:cubicBezTo>
                      <a:pt x="715314" y="395192"/>
                      <a:pt x="703365" y="400141"/>
                      <a:pt x="690906" y="400141"/>
                    </a:cubicBezTo>
                    <a:lnTo>
                      <a:pt x="46977" y="400141"/>
                    </a:lnTo>
                    <a:cubicBezTo>
                      <a:pt x="34518" y="400141"/>
                      <a:pt x="22569" y="395192"/>
                      <a:pt x="13759" y="386382"/>
                    </a:cubicBezTo>
                    <a:cubicBezTo>
                      <a:pt x="4949" y="377572"/>
                      <a:pt x="0" y="365623"/>
                      <a:pt x="0" y="353164"/>
                    </a:cubicBezTo>
                    <a:lnTo>
                      <a:pt x="0" y="46977"/>
                    </a:lnTo>
                    <a:cubicBezTo>
                      <a:pt x="0" y="34518"/>
                      <a:pt x="4949" y="22569"/>
                      <a:pt x="13759" y="13759"/>
                    </a:cubicBezTo>
                    <a:cubicBezTo>
                      <a:pt x="22569" y="4949"/>
                      <a:pt x="34518" y="0"/>
                      <a:pt x="46977" y="0"/>
                    </a:cubicBezTo>
                    <a:close/>
                  </a:path>
                </a:pathLst>
              </a:custGeom>
              <a:solidFill>
                <a:srgbClr val="F1E5FF"/>
              </a:solidFill>
              <a:ln w="1905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737883" cy="419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7337870" y="7067770"/>
              <a:ext cx="3087098" cy="1674011"/>
              <a:chOff x="0" y="0"/>
              <a:chExt cx="737883" cy="40012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37883" cy="400124"/>
              </a:xfrm>
              <a:custGeom>
                <a:avLst/>
                <a:gdLst/>
                <a:ahLst/>
                <a:cxnLst/>
                <a:rect r="r" b="b" t="t" l="l"/>
                <a:pathLst>
                  <a:path h="400124" w="737883">
                    <a:moveTo>
                      <a:pt x="46977" y="0"/>
                    </a:moveTo>
                    <a:lnTo>
                      <a:pt x="690906" y="0"/>
                    </a:lnTo>
                    <a:cubicBezTo>
                      <a:pt x="716850" y="0"/>
                      <a:pt x="737883" y="21032"/>
                      <a:pt x="737883" y="46977"/>
                    </a:cubicBezTo>
                    <a:lnTo>
                      <a:pt x="737883" y="353148"/>
                    </a:lnTo>
                    <a:cubicBezTo>
                      <a:pt x="737883" y="365607"/>
                      <a:pt x="732933" y="377555"/>
                      <a:pt x="724123" y="386365"/>
                    </a:cubicBezTo>
                    <a:cubicBezTo>
                      <a:pt x="715314" y="395175"/>
                      <a:pt x="703365" y="400124"/>
                      <a:pt x="690906" y="400124"/>
                    </a:cubicBezTo>
                    <a:lnTo>
                      <a:pt x="46977" y="400124"/>
                    </a:lnTo>
                    <a:cubicBezTo>
                      <a:pt x="34518" y="400124"/>
                      <a:pt x="22569" y="395175"/>
                      <a:pt x="13759" y="386365"/>
                    </a:cubicBezTo>
                    <a:cubicBezTo>
                      <a:pt x="4949" y="377555"/>
                      <a:pt x="0" y="365607"/>
                      <a:pt x="0" y="353148"/>
                    </a:cubicBezTo>
                    <a:lnTo>
                      <a:pt x="0" y="46977"/>
                    </a:lnTo>
                    <a:cubicBezTo>
                      <a:pt x="0" y="34518"/>
                      <a:pt x="4949" y="22569"/>
                      <a:pt x="13759" y="13759"/>
                    </a:cubicBezTo>
                    <a:cubicBezTo>
                      <a:pt x="22569" y="4949"/>
                      <a:pt x="34518" y="0"/>
                      <a:pt x="46977" y="0"/>
                    </a:cubicBezTo>
                    <a:close/>
                  </a:path>
                </a:pathLst>
              </a:custGeom>
              <a:solidFill>
                <a:srgbClr val="F1E5FF"/>
              </a:solidFill>
              <a:ln w="1905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737883" cy="419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10997349" y="7028899"/>
              <a:ext cx="3087098" cy="1674011"/>
              <a:chOff x="0" y="0"/>
              <a:chExt cx="737883" cy="40012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737883" cy="400124"/>
              </a:xfrm>
              <a:custGeom>
                <a:avLst/>
                <a:gdLst/>
                <a:ahLst/>
                <a:cxnLst/>
                <a:rect r="r" b="b" t="t" l="l"/>
                <a:pathLst>
                  <a:path h="400124" w="737883">
                    <a:moveTo>
                      <a:pt x="46977" y="0"/>
                    </a:moveTo>
                    <a:lnTo>
                      <a:pt x="690906" y="0"/>
                    </a:lnTo>
                    <a:cubicBezTo>
                      <a:pt x="716850" y="0"/>
                      <a:pt x="737883" y="21032"/>
                      <a:pt x="737883" y="46977"/>
                    </a:cubicBezTo>
                    <a:lnTo>
                      <a:pt x="737883" y="353148"/>
                    </a:lnTo>
                    <a:cubicBezTo>
                      <a:pt x="737883" y="365607"/>
                      <a:pt x="732933" y="377555"/>
                      <a:pt x="724123" y="386365"/>
                    </a:cubicBezTo>
                    <a:cubicBezTo>
                      <a:pt x="715314" y="395175"/>
                      <a:pt x="703365" y="400124"/>
                      <a:pt x="690906" y="400124"/>
                    </a:cubicBezTo>
                    <a:lnTo>
                      <a:pt x="46977" y="400124"/>
                    </a:lnTo>
                    <a:cubicBezTo>
                      <a:pt x="34518" y="400124"/>
                      <a:pt x="22569" y="395175"/>
                      <a:pt x="13759" y="386365"/>
                    </a:cubicBezTo>
                    <a:cubicBezTo>
                      <a:pt x="4949" y="377555"/>
                      <a:pt x="0" y="365607"/>
                      <a:pt x="0" y="353148"/>
                    </a:cubicBezTo>
                    <a:lnTo>
                      <a:pt x="0" y="46977"/>
                    </a:lnTo>
                    <a:cubicBezTo>
                      <a:pt x="0" y="34518"/>
                      <a:pt x="4949" y="22569"/>
                      <a:pt x="13759" y="13759"/>
                    </a:cubicBezTo>
                    <a:cubicBezTo>
                      <a:pt x="22569" y="4949"/>
                      <a:pt x="34518" y="0"/>
                      <a:pt x="46977" y="0"/>
                    </a:cubicBezTo>
                    <a:close/>
                  </a:path>
                </a:pathLst>
              </a:custGeom>
              <a:solidFill>
                <a:srgbClr val="F1E5FF"/>
              </a:solidFill>
              <a:ln w="1905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737883" cy="419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62" id="62"/>
            <p:cNvSpPr/>
            <p:nvPr/>
          </p:nvSpPr>
          <p:spPr>
            <a:xfrm>
              <a:off x="1583879" y="1277563"/>
              <a:ext cx="5088971" cy="1057674"/>
            </a:xfrm>
            <a:custGeom>
              <a:avLst/>
              <a:gdLst/>
              <a:ahLst/>
              <a:cxnLst/>
              <a:rect r="r" b="b" t="t" l="l"/>
              <a:pathLst>
                <a:path h="1057674" w="5088971">
                  <a:moveTo>
                    <a:pt x="0" y="0"/>
                  </a:moveTo>
                  <a:lnTo>
                    <a:pt x="0" y="329873"/>
                  </a:lnTo>
                  <a:cubicBezTo>
                    <a:pt x="0" y="468989"/>
                    <a:pt x="112776" y="581764"/>
                    <a:pt x="251891" y="581764"/>
                  </a:cubicBezTo>
                  <a:lnTo>
                    <a:pt x="4851016" y="581764"/>
                  </a:lnTo>
                  <a:cubicBezTo>
                    <a:pt x="4914126" y="581764"/>
                    <a:pt x="4974651" y="606835"/>
                    <a:pt x="5019276" y="651460"/>
                  </a:cubicBezTo>
                  <a:cubicBezTo>
                    <a:pt x="5063901" y="696085"/>
                    <a:pt x="5088971" y="756610"/>
                    <a:pt x="5088971" y="819719"/>
                  </a:cubicBezTo>
                  <a:lnTo>
                    <a:pt x="5088971" y="1057674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3" id="63"/>
            <p:cNvSpPr/>
            <p:nvPr/>
          </p:nvSpPr>
          <p:spPr>
            <a:xfrm>
              <a:off x="6672850" y="1291075"/>
              <a:ext cx="5968781" cy="872643"/>
            </a:xfrm>
            <a:custGeom>
              <a:avLst/>
              <a:gdLst/>
              <a:ahLst/>
              <a:cxnLst/>
              <a:rect r="r" b="b" t="t" l="l"/>
              <a:pathLst>
                <a:path h="872643" w="5968781">
                  <a:moveTo>
                    <a:pt x="0" y="872643"/>
                  </a:moveTo>
                  <a:lnTo>
                    <a:pt x="0" y="744130"/>
                  </a:lnTo>
                  <a:cubicBezTo>
                    <a:pt x="0" y="710046"/>
                    <a:pt x="13540" y="677358"/>
                    <a:pt x="37640" y="653257"/>
                  </a:cubicBezTo>
                  <a:cubicBezTo>
                    <a:pt x="61741" y="629156"/>
                    <a:pt x="94429" y="615617"/>
                    <a:pt x="128513" y="615617"/>
                  </a:cubicBezTo>
                  <a:lnTo>
                    <a:pt x="5716889" y="615617"/>
                  </a:lnTo>
                  <a:cubicBezTo>
                    <a:pt x="5856005" y="615617"/>
                    <a:pt x="5968781" y="502841"/>
                    <a:pt x="5968781" y="363726"/>
                  </a:cubicBezTo>
                  <a:lnTo>
                    <a:pt x="5968781" y="0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4" id="64"/>
            <p:cNvSpPr/>
            <p:nvPr/>
          </p:nvSpPr>
          <p:spPr>
            <a:xfrm>
              <a:off x="4303804" y="1291075"/>
              <a:ext cx="2369046" cy="762781"/>
            </a:xfrm>
            <a:custGeom>
              <a:avLst/>
              <a:gdLst/>
              <a:ahLst/>
              <a:cxnLst/>
              <a:rect r="r" b="b" t="t" l="l"/>
              <a:pathLst>
                <a:path h="762781" w="2369046">
                  <a:moveTo>
                    <a:pt x="0" y="0"/>
                  </a:moveTo>
                  <a:lnTo>
                    <a:pt x="0" y="143088"/>
                  </a:lnTo>
                  <a:cubicBezTo>
                    <a:pt x="0" y="222113"/>
                    <a:pt x="64062" y="286176"/>
                    <a:pt x="143087" y="286176"/>
                  </a:cubicBezTo>
                  <a:lnTo>
                    <a:pt x="1205162" y="286176"/>
                  </a:lnTo>
                  <a:cubicBezTo>
                    <a:pt x="1205664" y="286176"/>
                    <a:pt x="1206071" y="285769"/>
                    <a:pt x="1206071" y="285267"/>
                  </a:cubicBezTo>
                  <a:lnTo>
                    <a:pt x="1206071" y="285267"/>
                  </a:lnTo>
                  <a:cubicBezTo>
                    <a:pt x="1206071" y="285026"/>
                    <a:pt x="1206167" y="284795"/>
                    <a:pt x="1206337" y="284624"/>
                  </a:cubicBezTo>
                  <a:cubicBezTo>
                    <a:pt x="1206507" y="284454"/>
                    <a:pt x="1206739" y="284358"/>
                    <a:pt x="1206980" y="284358"/>
                  </a:cubicBezTo>
                  <a:lnTo>
                    <a:pt x="2129834" y="284358"/>
                  </a:lnTo>
                  <a:cubicBezTo>
                    <a:pt x="2193277" y="284358"/>
                    <a:pt x="2254121" y="309561"/>
                    <a:pt x="2298983" y="354422"/>
                  </a:cubicBezTo>
                  <a:cubicBezTo>
                    <a:pt x="2343844" y="399283"/>
                    <a:pt x="2369046" y="460127"/>
                    <a:pt x="2369046" y="523570"/>
                  </a:cubicBezTo>
                  <a:lnTo>
                    <a:pt x="2369046" y="762782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5" id="65"/>
            <p:cNvSpPr/>
            <p:nvPr/>
          </p:nvSpPr>
          <p:spPr>
            <a:xfrm>
              <a:off x="6671878" y="1282651"/>
              <a:ext cx="2313634" cy="576676"/>
            </a:xfrm>
            <a:custGeom>
              <a:avLst/>
              <a:gdLst/>
              <a:ahLst/>
              <a:cxnLst/>
              <a:rect r="r" b="b" t="t" l="l"/>
              <a:pathLst>
                <a:path h="576676" w="2313634">
                  <a:moveTo>
                    <a:pt x="0" y="576676"/>
                  </a:moveTo>
                  <a:lnTo>
                    <a:pt x="486" y="576676"/>
                  </a:lnTo>
                  <a:cubicBezTo>
                    <a:pt x="615" y="576676"/>
                    <a:pt x="739" y="576625"/>
                    <a:pt x="829" y="576534"/>
                  </a:cubicBezTo>
                  <a:cubicBezTo>
                    <a:pt x="921" y="576443"/>
                    <a:pt x="972" y="576319"/>
                    <a:pt x="972" y="576190"/>
                  </a:cubicBezTo>
                  <a:lnTo>
                    <a:pt x="972" y="435638"/>
                  </a:lnTo>
                  <a:cubicBezTo>
                    <a:pt x="972" y="398232"/>
                    <a:pt x="15832" y="362359"/>
                    <a:pt x="42281" y="335909"/>
                  </a:cubicBezTo>
                  <a:cubicBezTo>
                    <a:pt x="68731" y="309459"/>
                    <a:pt x="104604" y="294600"/>
                    <a:pt x="142011" y="294600"/>
                  </a:cubicBezTo>
                  <a:lnTo>
                    <a:pt x="2166334" y="294600"/>
                  </a:lnTo>
                  <a:cubicBezTo>
                    <a:pt x="2247686" y="294600"/>
                    <a:pt x="2313634" y="228651"/>
                    <a:pt x="2313634" y="147300"/>
                  </a:cubicBezTo>
                  <a:lnTo>
                    <a:pt x="2313634" y="0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6" id="66"/>
            <p:cNvSpPr/>
            <p:nvPr/>
          </p:nvSpPr>
          <p:spPr>
            <a:xfrm>
              <a:off x="6692869" y="3757957"/>
              <a:ext cx="0" cy="125231"/>
            </a:xfrm>
            <a:custGeom>
              <a:avLst/>
              <a:gdLst/>
              <a:ahLst/>
              <a:cxnLst/>
              <a:rect r="r" b="b" t="t" l="l"/>
              <a:pathLst>
                <a:path h="125231" w="0">
                  <a:moveTo>
                    <a:pt x="0" y="0"/>
                  </a:moveTo>
                  <a:lnTo>
                    <a:pt x="0" y="125231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7" id="67"/>
            <p:cNvSpPr/>
            <p:nvPr/>
          </p:nvSpPr>
          <p:spPr>
            <a:xfrm>
              <a:off x="6692869" y="5316057"/>
              <a:ext cx="0" cy="119867"/>
            </a:xfrm>
            <a:custGeom>
              <a:avLst/>
              <a:gdLst/>
              <a:ahLst/>
              <a:cxnLst/>
              <a:rect r="r" b="b" t="t" l="l"/>
              <a:pathLst>
                <a:path h="119867" w="0">
                  <a:moveTo>
                    <a:pt x="0" y="0"/>
                  </a:moveTo>
                  <a:lnTo>
                    <a:pt x="0" y="119867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8" id="68"/>
            <p:cNvSpPr/>
            <p:nvPr/>
          </p:nvSpPr>
          <p:spPr>
            <a:xfrm>
              <a:off x="1707624" y="6775627"/>
              <a:ext cx="5027166" cy="292143"/>
            </a:xfrm>
            <a:custGeom>
              <a:avLst/>
              <a:gdLst/>
              <a:ahLst/>
              <a:cxnLst/>
              <a:rect r="r" b="b" t="t" l="l"/>
              <a:pathLst>
                <a:path h="292143" w="5027166">
                  <a:moveTo>
                    <a:pt x="5027166" y="0"/>
                  </a:moveTo>
                  <a:lnTo>
                    <a:pt x="5027166" y="35005"/>
                  </a:lnTo>
                  <a:cubicBezTo>
                    <a:pt x="5027166" y="44289"/>
                    <a:pt x="5023478" y="53192"/>
                    <a:pt x="5016914" y="59757"/>
                  </a:cubicBezTo>
                  <a:cubicBezTo>
                    <a:pt x="5010349" y="66321"/>
                    <a:pt x="5001446" y="70009"/>
                    <a:pt x="4992162" y="70009"/>
                  </a:cubicBezTo>
                  <a:lnTo>
                    <a:pt x="111067" y="70009"/>
                  </a:lnTo>
                  <a:cubicBezTo>
                    <a:pt x="49727" y="70009"/>
                    <a:pt x="0" y="119736"/>
                    <a:pt x="0" y="181076"/>
                  </a:cubicBezTo>
                  <a:lnTo>
                    <a:pt x="0" y="292142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9" id="69"/>
            <p:cNvSpPr/>
            <p:nvPr/>
          </p:nvSpPr>
          <p:spPr>
            <a:xfrm>
              <a:off x="6734790" y="6796618"/>
              <a:ext cx="5806108" cy="232281"/>
            </a:xfrm>
            <a:custGeom>
              <a:avLst/>
              <a:gdLst/>
              <a:ahLst/>
              <a:cxnLst/>
              <a:rect r="r" b="b" t="t" l="l"/>
              <a:pathLst>
                <a:path h="232281" w="5806108">
                  <a:moveTo>
                    <a:pt x="5806109" y="232281"/>
                  </a:moveTo>
                  <a:lnTo>
                    <a:pt x="5806109" y="140685"/>
                  </a:lnTo>
                  <a:cubicBezTo>
                    <a:pt x="5806109" y="116392"/>
                    <a:pt x="5796458" y="93094"/>
                    <a:pt x="5779281" y="75916"/>
                  </a:cubicBezTo>
                  <a:cubicBezTo>
                    <a:pt x="5762103" y="58739"/>
                    <a:pt x="5738805" y="49088"/>
                    <a:pt x="5714513" y="49088"/>
                  </a:cubicBezTo>
                  <a:lnTo>
                    <a:pt x="24545" y="49088"/>
                  </a:lnTo>
                  <a:cubicBezTo>
                    <a:pt x="18035" y="49088"/>
                    <a:pt x="11792" y="46502"/>
                    <a:pt x="7189" y="41899"/>
                  </a:cubicBezTo>
                  <a:cubicBezTo>
                    <a:pt x="2586" y="37297"/>
                    <a:pt x="0" y="31054"/>
                    <a:pt x="0" y="24544"/>
                  </a:cubicBezTo>
                  <a:lnTo>
                    <a:pt x="0" y="0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0" id="70"/>
            <p:cNvSpPr/>
            <p:nvPr/>
          </p:nvSpPr>
          <p:spPr>
            <a:xfrm>
              <a:off x="5129301" y="6881723"/>
              <a:ext cx="1605489" cy="186047"/>
            </a:xfrm>
            <a:custGeom>
              <a:avLst/>
              <a:gdLst/>
              <a:ahLst/>
              <a:cxnLst/>
              <a:rect r="r" b="b" t="t" l="l"/>
              <a:pathLst>
                <a:path h="186047" w="1605489">
                  <a:moveTo>
                    <a:pt x="1605489" y="0"/>
                  </a:moveTo>
                  <a:lnTo>
                    <a:pt x="1605489" y="48374"/>
                  </a:lnTo>
                  <a:cubicBezTo>
                    <a:pt x="1605489" y="75090"/>
                    <a:pt x="1583832" y="96748"/>
                    <a:pt x="1557116" y="96748"/>
                  </a:cubicBezTo>
                  <a:lnTo>
                    <a:pt x="44649" y="96748"/>
                  </a:lnTo>
                  <a:cubicBezTo>
                    <a:pt x="19991" y="96748"/>
                    <a:pt x="0" y="116738"/>
                    <a:pt x="0" y="141397"/>
                  </a:cubicBezTo>
                  <a:lnTo>
                    <a:pt x="0" y="186046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1" id="71"/>
            <p:cNvSpPr/>
            <p:nvPr/>
          </p:nvSpPr>
          <p:spPr>
            <a:xfrm>
              <a:off x="6734790" y="6830001"/>
              <a:ext cx="2001778" cy="237768"/>
            </a:xfrm>
            <a:custGeom>
              <a:avLst/>
              <a:gdLst/>
              <a:ahLst/>
              <a:cxnLst/>
              <a:rect r="r" b="b" t="t" l="l"/>
              <a:pathLst>
                <a:path h="237768" w="2001778">
                  <a:moveTo>
                    <a:pt x="2001778" y="237768"/>
                  </a:moveTo>
                  <a:lnTo>
                    <a:pt x="2001778" y="193119"/>
                  </a:lnTo>
                  <a:cubicBezTo>
                    <a:pt x="2001778" y="168460"/>
                    <a:pt x="1981788" y="148470"/>
                    <a:pt x="1957129" y="148470"/>
                  </a:cubicBezTo>
                  <a:lnTo>
                    <a:pt x="74235" y="148470"/>
                  </a:lnTo>
                  <a:cubicBezTo>
                    <a:pt x="54547" y="148470"/>
                    <a:pt x="35665" y="140649"/>
                    <a:pt x="21743" y="126727"/>
                  </a:cubicBezTo>
                  <a:cubicBezTo>
                    <a:pt x="7822" y="112805"/>
                    <a:pt x="0" y="93924"/>
                    <a:pt x="0" y="74235"/>
                  </a:cubicBezTo>
                  <a:lnTo>
                    <a:pt x="0" y="0"/>
                  </a:ln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2" id="72"/>
            <p:cNvSpPr/>
            <p:nvPr/>
          </p:nvSpPr>
          <p:spPr>
            <a:xfrm>
              <a:off x="14084448" y="649750"/>
              <a:ext cx="849435" cy="7216155"/>
            </a:xfrm>
            <a:custGeom>
              <a:avLst/>
              <a:gdLst/>
              <a:ahLst/>
              <a:cxnLst/>
              <a:rect r="r" b="b" t="t" l="l"/>
              <a:pathLst>
                <a:path h="7216155" w="849435">
                  <a:moveTo>
                    <a:pt x="257448" y="0"/>
                  </a:moveTo>
                  <a:quadBezTo>
                    <a:pt x="1558557" y="3659089"/>
                    <a:pt x="0" y="7216154"/>
                  </a:quadBezTo>
                </a:path>
              </a:pathLst>
            </a:custGeom>
            <a:ln cap="flat" w="4198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383744" y="7625859"/>
              <a:ext cx="1772895" cy="317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2"/>
                </a:lnSpc>
                <a:spcBef>
                  <a:spcPct val="0"/>
                </a:spcBef>
              </a:pPr>
              <a:r>
                <a:rPr lang="en-US" b="true" sz="151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Personal App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3964885" y="7625859"/>
              <a:ext cx="1861522" cy="317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2"/>
                </a:lnSpc>
                <a:spcBef>
                  <a:spcPct val="0"/>
                </a:spcBef>
              </a:pPr>
              <a:r>
                <a:rPr lang="en-US" b="true" sz="151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Welfare Officer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7401626" y="7625859"/>
              <a:ext cx="3128752" cy="317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2"/>
                </a:lnSpc>
                <a:spcBef>
                  <a:spcPct val="0"/>
                </a:spcBef>
              </a:pPr>
              <a:r>
                <a:rPr lang="en-US" b="true" sz="151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Commander Dashboard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2105596" y="7625859"/>
              <a:ext cx="1125769" cy="317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2"/>
                </a:lnSpc>
                <a:spcBef>
                  <a:spcPct val="0"/>
                </a:spcBef>
              </a:pPr>
              <a:r>
                <a:rPr lang="en-US" b="true" sz="151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Admin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-30343" y="1265519"/>
            <a:ext cx="17289643" cy="34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b="true" sz="2178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WMS - Technical Architecture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432653" y="4043264"/>
            <a:ext cx="2732861" cy="12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  <a:spcBef>
                <a:spcPct val="0"/>
              </a:spcBef>
            </a:pPr>
            <a:r>
              <a:rPr lang="en-US" b="true" sz="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Validate → Clean → Pseudonymize → Engineer Features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507930" y="5133975"/>
            <a:ext cx="2582308" cy="12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  <a:spcBef>
                <a:spcPct val="0"/>
              </a:spcBef>
            </a:pPr>
            <a:r>
              <a:rPr lang="en-US" b="true" sz="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Predictive Model → Calibration → Trajectory Analysis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507930" y="6310921"/>
            <a:ext cx="1588393" cy="12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  <a:spcBef>
                <a:spcPct val="0"/>
              </a:spcBef>
            </a:pPr>
            <a:r>
              <a:rPr lang="en-US" b="true" sz="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Prioritize → Recommend → Alert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797937" y="1846256"/>
            <a:ext cx="1575663" cy="2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Security Layer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002200" y="4913769"/>
            <a:ext cx="1953453" cy="68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6"/>
              </a:lnSpc>
              <a:spcBef>
                <a:spcPct val="0"/>
              </a:spcBef>
            </a:pPr>
            <a:r>
              <a:rPr lang="en-US" b="true" sz="11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Anomaly Detection</a:t>
            </a:r>
          </a:p>
          <a:p>
            <a:pPr algn="ctr">
              <a:lnSpc>
                <a:spcPts val="1366"/>
              </a:lnSpc>
              <a:spcBef>
                <a:spcPct val="0"/>
              </a:spcBef>
            </a:pPr>
            <a:r>
              <a:rPr lang="en-US" b="true" sz="11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Predictive Burnout Models</a:t>
            </a:r>
          </a:p>
          <a:p>
            <a:pPr algn="ctr">
              <a:lnSpc>
                <a:spcPts val="1366"/>
              </a:lnSpc>
              <a:spcBef>
                <a:spcPct val="0"/>
              </a:spcBef>
            </a:pPr>
            <a:r>
              <a:rPr lang="en-US" b="true" sz="11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Sentiment and NLP Analysis</a:t>
            </a:r>
          </a:p>
          <a:p>
            <a:pPr algn="ctr">
              <a:lnSpc>
                <a:spcPts val="1366"/>
              </a:lnSpc>
              <a:spcBef>
                <a:spcPct val="0"/>
              </a:spcBef>
            </a:pPr>
            <a:r>
              <a:rPr lang="en-US" b="true" sz="11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DSM Models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8700" y="1974573"/>
          <a:ext cx="15600621" cy="6261780"/>
        </p:xfrm>
        <a:graphic>
          <a:graphicData uri="http://schemas.openxmlformats.org/drawingml/2006/table">
            <a:tbl>
              <a:tblPr/>
              <a:tblGrid>
                <a:gridCol w="5417557"/>
                <a:gridCol w="4822232"/>
                <a:gridCol w="5360831"/>
              </a:tblGrid>
              <a:tr h="1355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Feasability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Potential challenges and risks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Stratergies for Overcoming the 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49066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TECHNICAL FEASIBILITY</a:t>
                      </a:r>
                      <a:endParaRPr lang="en-US" sz="1100"/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Cloud integration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 of already available technologies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OPERATIONAL FEASIBILITY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Designed as a welfare-support and early-warning system rather than a disciplinary tool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Scalable and adaptable for large-scale deployment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PSYCHOLOGICAL FEASIBILITY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ICD- and DSM-informed</a:t>
                      </a:r>
                    </a:p>
                    <a:p>
                      <a:pPr algn="ctr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 of established ethical principles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Cybersecurity</a:t>
                      </a:r>
                      <a:endParaRPr lang="en-US" sz="1100"/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Privacy of sensitive personnel data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risk- breaches can cause theft and losses</a:t>
                      </a:r>
                    </a:p>
                    <a:p>
                      <a:pPr algn="just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ata Gathering 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Lack of real military datasets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risk- difficulty in model training </a:t>
                      </a:r>
                    </a:p>
                    <a:p>
                      <a:pPr algn="just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Fairness Testing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AI bias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risk- incorrect correlations </a:t>
                      </a:r>
                    </a:p>
                    <a:p>
                      <a:pPr algn="just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doption Barrier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Personnel may not trust the system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risk- gathering of incomplete data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10206" indent="-205103" lvl="1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explainable AI</a:t>
                      </a:r>
                      <a:endParaRPr lang="en-US" sz="1100"/>
                    </a:p>
                    <a:p>
                      <a:pPr algn="l" marL="410206" indent="-205103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Encryption, Role-Based Access Control</a:t>
                      </a:r>
                    </a:p>
                    <a:p>
                      <a:pPr algn="l" marL="410206" indent="-205103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circular queue </a:t>
                      </a:r>
                    </a:p>
                    <a:p>
                      <a:pPr algn="l" marL="410206" indent="-205103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 Fairness Monitoring Module</a:t>
                      </a:r>
                    </a:p>
                    <a:p>
                      <a:pPr algn="l" marL="410206" indent="-205103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Synthetic Dataset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88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80"/>
                </a:lnSpc>
              </a:pPr>
              <a:r>
                <a:rPr lang="en-US" b="true" sz="90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3584" y="157129"/>
            <a:ext cx="1969019" cy="128374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4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766118" y="1643062"/>
          <a:ext cx="16755763" cy="7478679"/>
        </p:xfrm>
        <a:graphic>
          <a:graphicData uri="http://schemas.openxmlformats.org/drawingml/2006/table">
            <a:tbl>
              <a:tblPr/>
              <a:tblGrid>
                <a:gridCol w="8377882"/>
                <a:gridCol w="8377882"/>
              </a:tblGrid>
              <a:tr h="920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359"/>
                        </a:lnSpc>
                        <a:defRPr/>
                      </a:pPr>
                      <a:r>
                        <a:rPr lang="en-US" b="true" sz="2999" spc="29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Benefits of the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359"/>
                        </a:lnSpc>
                        <a:defRPr/>
                      </a:pPr>
                      <a:r>
                        <a:rPr lang="en-US" b="true" sz="2999" spc="29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Potential Impact on Personnel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6558035">
                <a:tc>
                  <a:txBody>
                    <a:bodyPr anchor="t" rtlCol="false"/>
                    <a:lstStyle/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  <a:defRPr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AI reduces unnecessary questions.</a:t>
                      </a:r>
                      <a:endParaRPr lang="en-US" sz="1100"/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and more efficient screening.</a:t>
                      </a:r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Converts responses into actionable welfare insights.</a:t>
                      </a:r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Helps professionals prioritize cases requiring attention.</a:t>
                      </a:r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Potential reduction in long-term welfare costs.</a:t>
                      </a:r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Scalable to large veteran populations.</a:t>
                      </a:r>
                    </a:p>
                    <a:p>
                      <a:pPr algn="l" marL="582922" indent="-291461" lvl="1">
                        <a:lnSpc>
                          <a:spcPts val="5723"/>
                        </a:lnSpc>
                        <a:buAutoNum type="arabicPeriod" startAt="1"/>
                      </a:pPr>
                      <a:r>
                        <a:rPr lang="en-US" sz="2699" spc="26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Enables structured follow-up over time.</a:t>
                      </a:r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  <a:defRPr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Earlier recognition of psychological distress.</a:t>
                      </a:r>
                      <a:endParaRPr lang="en-US" sz="1100"/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Assessment tailored to individual responses.</a:t>
                      </a:r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Encourages help-seeking and self-awareness.</a:t>
                      </a:r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Better connection between veterans and support services.</a:t>
                      </a:r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Supports long-term psychological wellbeing.</a:t>
                      </a:r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May improve functioning in family and social life.</a:t>
                      </a:r>
                    </a:p>
                    <a:p>
                      <a:pPr algn="l" marL="582930" indent="-291465" lvl="1">
                        <a:lnSpc>
                          <a:spcPts val="5724"/>
                        </a:lnSpc>
                        <a:buAutoNum type="arabicPeriod" startAt="1"/>
                      </a:pPr>
                      <a:r>
                        <a:rPr lang="en-US" sz="2700" spc="2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Creates a preventive approach to veteran welfare.</a:t>
                      </a:r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40" y="4219565"/>
            <a:ext cx="13895070" cy="71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DAHTmOwhozs</dc:identifier>
  <dcterms:modified xsi:type="dcterms:W3CDTF">2011-08-01T06:04:30Z</dcterms:modified>
  <cp:revision>1</cp:revision>
  <dc:title>SIH2026-IDEA-Presentation-Format.pptx</dc:title>
</cp:coreProperties>
</file>